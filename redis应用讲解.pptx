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  <p:sldMasterId id="2147483780" r:id="rId2"/>
    <p:sldMasterId id="2147483792" r:id="rId3"/>
  </p:sldMasterIdLst>
  <p:notesMasterIdLst>
    <p:notesMasterId r:id="rId39"/>
  </p:notesMasterIdLst>
  <p:sldIdLst>
    <p:sldId id="256" r:id="rId4"/>
    <p:sldId id="257" r:id="rId5"/>
    <p:sldId id="258" r:id="rId6"/>
    <p:sldId id="263" r:id="rId7"/>
    <p:sldId id="261" r:id="rId8"/>
    <p:sldId id="259" r:id="rId9"/>
    <p:sldId id="264" r:id="rId10"/>
    <p:sldId id="294" r:id="rId11"/>
    <p:sldId id="295" r:id="rId12"/>
    <p:sldId id="265" r:id="rId13"/>
    <p:sldId id="266" r:id="rId14"/>
    <p:sldId id="296" r:id="rId15"/>
    <p:sldId id="268" r:id="rId16"/>
    <p:sldId id="269" r:id="rId17"/>
    <p:sldId id="271" r:id="rId18"/>
    <p:sldId id="297" r:id="rId19"/>
    <p:sldId id="278" r:id="rId20"/>
    <p:sldId id="277" r:id="rId21"/>
    <p:sldId id="298" r:id="rId22"/>
    <p:sldId id="299" r:id="rId23"/>
    <p:sldId id="272" r:id="rId24"/>
    <p:sldId id="301" r:id="rId25"/>
    <p:sldId id="273" r:id="rId26"/>
    <p:sldId id="300" r:id="rId27"/>
    <p:sldId id="302" r:id="rId28"/>
    <p:sldId id="276" r:id="rId29"/>
    <p:sldId id="274" r:id="rId30"/>
    <p:sldId id="275" r:id="rId31"/>
    <p:sldId id="282" r:id="rId32"/>
    <p:sldId id="281" r:id="rId33"/>
    <p:sldId id="280" r:id="rId34"/>
    <p:sldId id="293" r:id="rId35"/>
    <p:sldId id="279" r:id="rId36"/>
    <p:sldId id="286" r:id="rId37"/>
    <p:sldId id="292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4" autoAdjust="0"/>
    <p:restoredTop sz="94662" autoAdjust="0"/>
  </p:normalViewPr>
  <p:slideViewPr>
    <p:cSldViewPr snapToGrid="0">
      <p:cViewPr>
        <p:scale>
          <a:sx n="80" d="100"/>
          <a:sy n="80" d="100"/>
        </p:scale>
        <p:origin x="-1710" y="-6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179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8121F-2C50-45D3-951A-368C0E41C175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FC35C-295C-4988-AEDF-616A00C569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502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CFC35C-295C-4988-AEDF-616A00C569B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662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90586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32688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59926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08036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07545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865103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9057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1236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92707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54221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11139"/>
            <a:ext cx="2743200" cy="59150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11139"/>
            <a:ext cx="8026400" cy="59150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71968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CD38FAD-D73C-47CE-97CB-977907BE8AEA}" type="datetimeFigureOut">
              <a:rPr lang="en-US"/>
              <a:pPr/>
              <a:t>12/26/2017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5E035C-A8C6-4E82-9488-E6759C9BD3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0819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55595F4-7667-4294-B9DE-C93E9B34F7B5}" type="datetimeFigureOut">
              <a:rPr lang="en-US"/>
              <a:pPr/>
              <a:t>12/26/2017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6BE7FB-2E38-43CC-9402-648F952533C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15659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21F2C1-BF62-42D5-8998-2C0502D595C5}" type="datetimeFigureOut">
              <a:rPr lang="en-US"/>
              <a:pPr/>
              <a:t>12/26/2017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E5D938-2ED3-4006-BFDF-F804A4DABC5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3839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0F4302-8583-4ABE-BD34-DC4BC71E8788}" type="datetimeFigureOut">
              <a:rPr lang="en-US"/>
              <a:pPr/>
              <a:t>12/26/2017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2782E6-84AE-4EFF-9F15-849B32854AD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7685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0DC20E-7799-4ED0-8CAB-E258AB2D4500}" type="datetimeFigureOut">
              <a:rPr lang="en-US"/>
              <a:pPr/>
              <a:t>12/26/2017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8DF7A6-453D-445D-ABA7-BA014F53523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32757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D5554D-C096-439B-BAF5-C2EB42C3DF4E}" type="datetimeFigureOut">
              <a:rPr lang="en-US"/>
              <a:pPr/>
              <a:t>12/26/2017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3D2783-8C4B-4689-94A8-7CEB81369F8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12281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D2B652-45A1-4AFC-BCF8-B34A8E357CFE}" type="datetimeFigureOut">
              <a:rPr lang="en-US"/>
              <a:pPr/>
              <a:t>12/26/2017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71736F-D3DF-4A37-AFA7-3B5A822BA90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1408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73B2B6-111A-4CD3-A1BC-513358B894E7}" type="datetimeFigureOut">
              <a:rPr lang="en-US"/>
              <a:pPr/>
              <a:t>12/26/2017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5FDCE7-1AF6-45E4-A749-58C4851E76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56923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A02240A-F403-4260-B8FB-AF94E69583E3}" type="datetimeFigureOut">
              <a:rPr lang="en-US"/>
              <a:pPr/>
              <a:t>12/26/2017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BD2DC-159A-49C2-8B83-B295FE5A54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32953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6E8877-0515-4180-A4E1-8B5216224FA3}" type="datetimeFigureOut">
              <a:rPr lang="en-US"/>
              <a:pPr/>
              <a:t>12/26/2017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0070B3-7CE3-4EEC-84A6-1D3C831167E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30783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11139"/>
            <a:ext cx="2743200" cy="59150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11139"/>
            <a:ext cx="8026400" cy="59150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834A46-4A7C-4D98-8B1E-53FC2CF4F4ED}" type="datetimeFigureOut">
              <a:rPr lang="en-US"/>
              <a:pPr/>
              <a:t>12/26/2017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3A0474-C19D-46C8-8F5A-7560F30FB8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817023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22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81923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8192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8192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</p:grpSp>
        <p:grpSp>
          <p:nvGrpSpPr>
            <p:cNvPr id="8192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1927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81928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</p:grpSp>
        <p:sp>
          <p:nvSpPr>
            <p:cNvPr id="8192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8193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8193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sp>
        <p:nvSpPr>
          <p:cNvPr id="819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676400"/>
            <a:ext cx="103632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819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81934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81935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193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0237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8141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0753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3665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42172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33926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39809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8036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1251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64035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38733" y="214313"/>
            <a:ext cx="2601384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34584" y="214313"/>
            <a:ext cx="7600949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55634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20638"/>
            <a:ext cx="12192000" cy="1438276"/>
          </a:xfrm>
          <a:prstGeom prst="rect">
            <a:avLst/>
          </a:prstGeom>
          <a:solidFill>
            <a:srgbClr val="243AA8"/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21168" y="6742114"/>
            <a:ext cx="12170833" cy="115887"/>
          </a:xfrm>
          <a:prstGeom prst="rect">
            <a:avLst/>
          </a:pr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7200" rIns="36000" bIns="180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en-US" sz="100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1167" y="-9525"/>
            <a:ext cx="12192000" cy="109538"/>
          </a:xfrm>
          <a:prstGeom prst="rect">
            <a:avLst/>
          </a:pr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7200" rIns="36000" bIns="180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en-US" sz="1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111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/>
            </a:lvl1pPr>
          </a:lstStyle>
          <a:p>
            <a:endParaRPr lang="zh-CN" alt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03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3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3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3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111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fld id="{2D0298E9-22FC-497D-B2D7-EB8D5C80E748}" type="datetimeFigureOut">
              <a:rPr lang="en-US"/>
              <a:pPr/>
              <a:t>12/26/2017</a:t>
            </a:fld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/>
            </a:lvl1pPr>
          </a:lstStyle>
          <a:p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35CA5DF8-99A3-4F0A-A822-E4D4679DDD7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10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ChangeArrowheads="1"/>
          </p:cNvSpPr>
          <p:nvPr/>
        </p:nvSpPr>
        <p:spPr bwMode="ltGray">
          <a:xfrm>
            <a:off x="556684" y="10985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/>
          </a:p>
        </p:txBody>
      </p:sp>
      <p:sp>
        <p:nvSpPr>
          <p:cNvPr id="80899" name="Rectangle 3"/>
          <p:cNvSpPr>
            <a:spLocks noChangeArrowheads="1"/>
          </p:cNvSpPr>
          <p:nvPr/>
        </p:nvSpPr>
        <p:spPr bwMode="ltGray">
          <a:xfrm>
            <a:off x="1066801" y="10985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/>
          </a:p>
        </p:txBody>
      </p:sp>
      <p:sp>
        <p:nvSpPr>
          <p:cNvPr id="80900" name="Rectangle 4"/>
          <p:cNvSpPr>
            <a:spLocks noChangeArrowheads="1"/>
          </p:cNvSpPr>
          <p:nvPr/>
        </p:nvSpPr>
        <p:spPr bwMode="ltGray">
          <a:xfrm>
            <a:off x="721785" y="15208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/>
          </a:p>
        </p:txBody>
      </p:sp>
      <p:sp>
        <p:nvSpPr>
          <p:cNvPr id="80901" name="Rectangle 5"/>
          <p:cNvSpPr>
            <a:spLocks noChangeArrowheads="1"/>
          </p:cNvSpPr>
          <p:nvPr/>
        </p:nvSpPr>
        <p:spPr bwMode="ltGray">
          <a:xfrm>
            <a:off x="1214967" y="15208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/>
          </a:p>
        </p:txBody>
      </p:sp>
      <p:sp>
        <p:nvSpPr>
          <p:cNvPr id="80902" name="Rectangle 6"/>
          <p:cNvSpPr>
            <a:spLocks noChangeArrowheads="1"/>
          </p:cNvSpPr>
          <p:nvPr/>
        </p:nvSpPr>
        <p:spPr bwMode="ltGray">
          <a:xfrm>
            <a:off x="169333" y="14478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/>
          </a:p>
        </p:txBody>
      </p:sp>
      <p:sp>
        <p:nvSpPr>
          <p:cNvPr id="80903" name="Rectangle 7"/>
          <p:cNvSpPr>
            <a:spLocks noChangeArrowheads="1"/>
          </p:cNvSpPr>
          <p:nvPr/>
        </p:nvSpPr>
        <p:spPr bwMode="gray">
          <a:xfrm>
            <a:off x="1016000" y="99060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/>
          </a:p>
        </p:txBody>
      </p:sp>
      <p:sp>
        <p:nvSpPr>
          <p:cNvPr id="80904" name="Rectangle 8"/>
          <p:cNvSpPr>
            <a:spLocks noChangeArrowheads="1"/>
          </p:cNvSpPr>
          <p:nvPr/>
        </p:nvSpPr>
        <p:spPr bwMode="gray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/>
          </a:p>
        </p:txBody>
      </p:sp>
      <p:sp>
        <p:nvSpPr>
          <p:cNvPr id="8090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214314"/>
            <a:ext cx="10390716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8090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809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49400" y="6243638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fld id="{7A9F88CE-1F1C-4E25-AFC4-C9DA93F4038E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809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76800" y="6243638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809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89533" y="6243638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宋体" panose="02010600030101010101" pitchFamily="2" charset="-122"/>
              </a:defRPr>
            </a:lvl1pPr>
          </a:lstStyle>
          <a:p>
            <a:fld id="{59F603F5-993D-4403-A09C-84C6FDC51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40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CN" dirty="0" err="1" smtClean="0"/>
              <a:t>Redis</a:t>
            </a:r>
            <a:r>
              <a:rPr lang="zh-CN" altLang="en-US" dirty="0" smtClean="0"/>
              <a:t>应用讲解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129632" y="3635007"/>
            <a:ext cx="2086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叶俊材</a:t>
            </a:r>
            <a:r>
              <a:rPr lang="zh-CN" altLang="en-US" dirty="0" smtClean="0"/>
              <a:t> </a:t>
            </a:r>
            <a:r>
              <a:rPr lang="en-US" altLang="zh-CN" dirty="0" smtClean="0"/>
              <a:t>2017.12.08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622861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 smtClean="0"/>
              <a:t>简介</a:t>
            </a:r>
            <a:r>
              <a:rPr lang="zh-CN" altLang="en-US" sz="2000" dirty="0"/>
              <a:t>与应用场景</a:t>
            </a:r>
            <a:endParaRPr lang="en-US" altLang="zh-CN" sz="2000" dirty="0"/>
          </a:p>
          <a:p>
            <a:r>
              <a:rPr lang="zh-CN" altLang="en-US" sz="2000" dirty="0" smtClean="0"/>
              <a:t>配置</a:t>
            </a:r>
            <a:endParaRPr lang="en-US" altLang="zh-CN" sz="2000" dirty="0" smtClean="0"/>
          </a:p>
          <a:p>
            <a:r>
              <a:rPr lang="zh-CN" altLang="en-US" sz="2000" dirty="0" smtClean="0"/>
              <a:t>数据类型以及命令</a:t>
            </a:r>
            <a:endParaRPr lang="en-US" altLang="zh-CN" sz="2000" dirty="0" smtClean="0"/>
          </a:p>
          <a:p>
            <a:r>
              <a:rPr lang="en-US" altLang="zh-CN" sz="2000" dirty="0" err="1" smtClean="0"/>
              <a:t>Redis</a:t>
            </a:r>
            <a:r>
              <a:rPr lang="zh-CN" altLang="en-US" sz="2000" dirty="0" smtClean="0"/>
              <a:t>事务</a:t>
            </a:r>
          </a:p>
          <a:p>
            <a:r>
              <a:rPr lang="zh-CN" altLang="en-US" sz="2000" dirty="0" smtClean="0"/>
              <a:t>特性（优缺点）</a:t>
            </a:r>
            <a:endParaRPr lang="en-US" altLang="zh-CN" sz="2000" dirty="0" smtClean="0"/>
          </a:p>
          <a:p>
            <a:r>
              <a:rPr lang="en-US" altLang="zh-CN" sz="2000" dirty="0" err="1"/>
              <a:t>Redis</a:t>
            </a:r>
            <a:r>
              <a:rPr lang="zh-CN" altLang="en-US" sz="2000" dirty="0"/>
              <a:t>与</a:t>
            </a:r>
            <a:r>
              <a:rPr lang="en-US" altLang="zh-CN" sz="2000" dirty="0" err="1"/>
              <a:t>Memcached</a:t>
            </a:r>
            <a:r>
              <a:rPr lang="zh-CN" altLang="en-US" sz="2000" dirty="0"/>
              <a:t>的比较</a:t>
            </a:r>
          </a:p>
          <a:p>
            <a:r>
              <a:rPr lang="zh-CN" altLang="en-US" sz="2000" dirty="0" smtClean="0"/>
              <a:t>持久</a:t>
            </a:r>
            <a:r>
              <a:rPr lang="zh-CN" altLang="en-US" sz="2000" dirty="0"/>
              <a:t>化</a:t>
            </a:r>
            <a:endParaRPr lang="en-US" altLang="zh-CN" sz="2000" dirty="0" smtClean="0"/>
          </a:p>
          <a:p>
            <a:r>
              <a:rPr lang="zh-CN" altLang="en-US" sz="2000" dirty="0"/>
              <a:t>思考</a:t>
            </a:r>
            <a:endParaRPr lang="zh-CN" altLang="en-US" sz="2000" dirty="0" smtClean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996555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sz="2000" dirty="0" smtClean="0"/>
              <a:t>Redis官网是这么描述的：</a:t>
            </a:r>
          </a:p>
          <a:p>
            <a:r>
              <a:rPr lang="zh-CN" altLang="en-US" sz="2000" dirty="0" smtClean="0"/>
              <a:t>Redis is an open source, advanced key-value store. It is often referred to as a data structure server since keys can contain strings, hashes, lists, sets and sorted sets.</a:t>
            </a:r>
          </a:p>
          <a:p>
            <a:endParaRPr lang="zh-CN" altLang="en-US" sz="2000" dirty="0" smtClean="0"/>
          </a:p>
          <a:p>
            <a:r>
              <a:rPr lang="zh-CN" altLang="en-US" sz="2000" dirty="0" smtClean="0"/>
              <a:t>Redis是一个开源的使用ANSI C语言编写、支持网络、可基于内存亦可持久化的日志型、Key-Value数据库，并提供多种语言的API。从2010年3月15日起，Redis的开发工作由VMware主持。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211129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应用场景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76917" y="2017713"/>
            <a:ext cx="10363200" cy="3520202"/>
          </a:xfrm>
        </p:spPr>
        <p:txBody>
          <a:bodyPr/>
          <a:lstStyle/>
          <a:p>
            <a:r>
              <a:rPr lang="en-US" altLang="zh-CN" sz="1800" dirty="0" smtClean="0"/>
              <a:t>1.</a:t>
            </a:r>
            <a:r>
              <a:rPr lang="zh-CN" altLang="en-US" sz="1800" dirty="0" smtClean="0"/>
              <a:t>取最新</a:t>
            </a:r>
            <a:r>
              <a:rPr lang="en-US" altLang="zh-CN" sz="1800" dirty="0" smtClean="0"/>
              <a:t>N</a:t>
            </a:r>
            <a:r>
              <a:rPr lang="zh-CN" altLang="en-US" sz="1800" dirty="0" smtClean="0"/>
              <a:t>个数据的操作</a:t>
            </a:r>
          </a:p>
          <a:p>
            <a:r>
              <a:rPr lang="en-US" altLang="zh-CN" sz="1800" dirty="0" smtClean="0"/>
              <a:t>2.</a:t>
            </a:r>
            <a:r>
              <a:rPr lang="zh-CN" altLang="en-US" sz="1800" dirty="0" smtClean="0"/>
              <a:t>排行榜应用</a:t>
            </a:r>
            <a:r>
              <a:rPr lang="en-US" altLang="zh-CN" sz="1800" dirty="0" smtClean="0"/>
              <a:t>,</a:t>
            </a:r>
            <a:r>
              <a:rPr lang="zh-CN" altLang="en-US" sz="1800" dirty="0" smtClean="0"/>
              <a:t>取</a:t>
            </a:r>
            <a:r>
              <a:rPr lang="en-US" altLang="zh-CN" sz="1800" dirty="0" smtClean="0"/>
              <a:t>TOP N </a:t>
            </a:r>
            <a:r>
              <a:rPr lang="zh-CN" altLang="en-US" sz="1800" dirty="0" smtClean="0"/>
              <a:t>操作</a:t>
            </a:r>
          </a:p>
          <a:p>
            <a:r>
              <a:rPr lang="en-US" altLang="zh-CN" sz="1800" dirty="0" smtClean="0"/>
              <a:t>3.</a:t>
            </a:r>
            <a:r>
              <a:rPr lang="zh-CN" altLang="en-US" sz="1800" dirty="0" smtClean="0"/>
              <a:t>需要精确设定过期时间的应用</a:t>
            </a:r>
          </a:p>
          <a:p>
            <a:r>
              <a:rPr lang="en-US" altLang="zh-CN" sz="1800" dirty="0" smtClean="0"/>
              <a:t>4.</a:t>
            </a:r>
            <a:r>
              <a:rPr lang="zh-CN" altLang="en-US" sz="1800" dirty="0" smtClean="0"/>
              <a:t>计数器应用</a:t>
            </a:r>
          </a:p>
          <a:p>
            <a:r>
              <a:rPr lang="en-US" altLang="zh-CN" sz="1800" dirty="0" smtClean="0"/>
              <a:t>5.Uniq</a:t>
            </a:r>
            <a:r>
              <a:rPr lang="zh-CN" altLang="en-US" sz="1800" dirty="0" smtClean="0"/>
              <a:t>操作</a:t>
            </a:r>
            <a:r>
              <a:rPr lang="en-US" altLang="zh-CN" sz="1800" dirty="0" smtClean="0"/>
              <a:t>,</a:t>
            </a:r>
            <a:r>
              <a:rPr lang="zh-CN" altLang="en-US" sz="1800" dirty="0" smtClean="0"/>
              <a:t>获取某段时间所有数据排重值</a:t>
            </a:r>
          </a:p>
          <a:p>
            <a:r>
              <a:rPr lang="en-US" altLang="zh-CN" sz="1800" dirty="0" smtClean="0"/>
              <a:t>6.</a:t>
            </a:r>
            <a:r>
              <a:rPr lang="zh-CN" altLang="en-US" sz="1800" dirty="0" smtClean="0"/>
              <a:t>实时系统</a:t>
            </a:r>
            <a:r>
              <a:rPr lang="en-US" altLang="zh-CN" sz="1800" dirty="0" smtClean="0"/>
              <a:t>,</a:t>
            </a:r>
            <a:r>
              <a:rPr lang="zh-CN" altLang="en-US" sz="1800" dirty="0" smtClean="0"/>
              <a:t>反垃圾系统</a:t>
            </a:r>
            <a:endParaRPr lang="en-US" altLang="zh-CN" sz="1800" dirty="0" smtClean="0"/>
          </a:p>
          <a:p>
            <a:r>
              <a:rPr lang="en-US" altLang="zh-CN" sz="1800" dirty="0" smtClean="0"/>
              <a:t>7.Pub/Sub</a:t>
            </a:r>
            <a:r>
              <a:rPr lang="zh-CN" altLang="en-US" sz="1800" dirty="0" smtClean="0"/>
              <a:t>构建实时消息系统</a:t>
            </a:r>
            <a:endParaRPr lang="en-US" altLang="zh-CN" sz="1800" dirty="0" smtClean="0"/>
          </a:p>
          <a:p>
            <a:r>
              <a:rPr lang="en-US" altLang="zh-CN" sz="1800" dirty="0" smtClean="0"/>
              <a:t>8.</a:t>
            </a:r>
            <a:r>
              <a:rPr lang="zh-CN" altLang="en-US" sz="1800" dirty="0" smtClean="0"/>
              <a:t>构建队列系统</a:t>
            </a:r>
          </a:p>
          <a:p>
            <a:r>
              <a:rPr lang="en-US" altLang="zh-CN" sz="1800" dirty="0" smtClean="0"/>
              <a:t>9.</a:t>
            </a:r>
            <a:r>
              <a:rPr lang="zh-CN" altLang="en-US" sz="1800" dirty="0" smtClean="0"/>
              <a:t>缓存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39855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50541" y="1964961"/>
            <a:ext cx="10363200" cy="4699610"/>
          </a:xfrm>
        </p:spPr>
        <p:txBody>
          <a:bodyPr/>
          <a:lstStyle/>
          <a:p>
            <a:r>
              <a:rPr lang="en-US" altLang="zh-CN" sz="1400" dirty="0" err="1" smtClean="0"/>
              <a:t>daemonize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如果需要在后台运行</a:t>
            </a:r>
            <a:r>
              <a:rPr lang="en-US" altLang="zh-CN" sz="1400" dirty="0" smtClean="0"/>
              <a:t>,</a:t>
            </a:r>
            <a:r>
              <a:rPr lang="zh-CN" altLang="en-US" sz="1400" dirty="0" smtClean="0"/>
              <a:t>把该项改为</a:t>
            </a:r>
            <a:r>
              <a:rPr lang="en-US" altLang="zh-CN" sz="1400" dirty="0" smtClean="0"/>
              <a:t>yes </a:t>
            </a:r>
          </a:p>
          <a:p>
            <a:r>
              <a:rPr lang="en-US" altLang="zh-CN" sz="1400" dirty="0" err="1" smtClean="0"/>
              <a:t>pidfile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配置多个</a:t>
            </a:r>
            <a:r>
              <a:rPr lang="en-US" altLang="zh-CN" sz="1400" dirty="0" err="1" smtClean="0"/>
              <a:t>pid</a:t>
            </a:r>
            <a:r>
              <a:rPr lang="zh-CN" altLang="en-US" sz="1400" dirty="0" smtClean="0"/>
              <a:t>的地址 默认在</a:t>
            </a:r>
            <a:r>
              <a:rPr lang="en-US" altLang="zh-CN" sz="1400" dirty="0" smtClean="0"/>
              <a:t>/</a:t>
            </a:r>
            <a:r>
              <a:rPr lang="en-US" altLang="zh-CN" sz="1400" dirty="0" err="1" smtClean="0"/>
              <a:t>var</a:t>
            </a:r>
            <a:r>
              <a:rPr lang="en-US" altLang="zh-CN" sz="1400" dirty="0" smtClean="0"/>
              <a:t>/run/</a:t>
            </a:r>
            <a:r>
              <a:rPr lang="en-US" altLang="zh-CN" sz="1400" dirty="0" err="1" smtClean="0"/>
              <a:t>redis.pid</a:t>
            </a:r>
            <a:endParaRPr lang="en-US" altLang="zh-CN" sz="1400" dirty="0" smtClean="0"/>
          </a:p>
          <a:p>
            <a:r>
              <a:rPr lang="en-US" altLang="zh-CN" sz="1400" dirty="0" smtClean="0"/>
              <a:t>bind </a:t>
            </a:r>
            <a:r>
              <a:rPr lang="zh-CN" altLang="en-US" sz="1400" dirty="0" smtClean="0"/>
              <a:t>绑定</a:t>
            </a:r>
            <a:r>
              <a:rPr lang="en-US" altLang="zh-CN" sz="1400" dirty="0" err="1" smtClean="0"/>
              <a:t>ip</a:t>
            </a:r>
            <a:r>
              <a:rPr lang="en-US" altLang="zh-CN" sz="1400" dirty="0" smtClean="0"/>
              <a:t>,</a:t>
            </a:r>
            <a:r>
              <a:rPr lang="zh-CN" altLang="en-US" sz="1400" dirty="0" smtClean="0"/>
              <a:t>设置后只接受来自该</a:t>
            </a:r>
            <a:r>
              <a:rPr lang="en-US" altLang="zh-CN" sz="1400" dirty="0" err="1" smtClean="0"/>
              <a:t>ip</a:t>
            </a:r>
            <a:r>
              <a:rPr lang="zh-CN" altLang="en-US" sz="1400" dirty="0" smtClean="0"/>
              <a:t>的请求</a:t>
            </a:r>
          </a:p>
          <a:p>
            <a:r>
              <a:rPr lang="en-US" altLang="zh-CN" sz="1400" dirty="0" smtClean="0"/>
              <a:t>port </a:t>
            </a:r>
            <a:r>
              <a:rPr lang="zh-CN" altLang="en-US" sz="1400" dirty="0" smtClean="0"/>
              <a:t>监听端口</a:t>
            </a:r>
            <a:r>
              <a:rPr lang="en-US" altLang="zh-CN" sz="1400" dirty="0" smtClean="0"/>
              <a:t>,</a:t>
            </a:r>
            <a:r>
              <a:rPr lang="zh-CN" altLang="en-US" sz="1400" dirty="0" smtClean="0"/>
              <a:t>默认为</a:t>
            </a:r>
            <a:r>
              <a:rPr lang="en-US" altLang="zh-CN" sz="1400" dirty="0" smtClean="0"/>
              <a:t>6379</a:t>
            </a:r>
          </a:p>
          <a:p>
            <a:r>
              <a:rPr lang="en-US" altLang="zh-CN" sz="1400" dirty="0" smtClean="0"/>
              <a:t>timeout </a:t>
            </a:r>
            <a:r>
              <a:rPr lang="zh-CN" altLang="en-US" sz="1400" dirty="0" smtClean="0"/>
              <a:t>设置客户端连接时的超时时间</a:t>
            </a:r>
            <a:r>
              <a:rPr lang="en-US" altLang="zh-CN" sz="1400" dirty="0" smtClean="0"/>
              <a:t>,</a:t>
            </a:r>
            <a:r>
              <a:rPr lang="zh-CN" altLang="en-US" sz="1400" dirty="0" smtClean="0"/>
              <a:t>单位为秒</a:t>
            </a:r>
          </a:p>
          <a:p>
            <a:r>
              <a:rPr lang="en-US" altLang="zh-CN" sz="1400" dirty="0" err="1" smtClean="0"/>
              <a:t>loglevel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分为</a:t>
            </a:r>
            <a:r>
              <a:rPr lang="en-US" altLang="zh-CN" sz="1400" dirty="0" smtClean="0"/>
              <a:t>4</a:t>
            </a:r>
            <a:r>
              <a:rPr lang="zh-CN" altLang="en-US" sz="1400" dirty="0" smtClean="0"/>
              <a:t>级</a:t>
            </a:r>
            <a:r>
              <a:rPr lang="en-US" altLang="zh-CN" sz="1400" dirty="0" smtClean="0"/>
              <a:t>,debug</a:t>
            </a:r>
            <a:r>
              <a:rPr lang="zh-CN" altLang="en-US" sz="1400" dirty="0" smtClean="0"/>
              <a:t>、</a:t>
            </a:r>
            <a:r>
              <a:rPr lang="en-US" altLang="zh-CN" sz="1400" dirty="0" smtClean="0"/>
              <a:t>verbose</a:t>
            </a:r>
            <a:r>
              <a:rPr lang="zh-CN" altLang="en-US" sz="1400" dirty="0" smtClean="0"/>
              <a:t>、</a:t>
            </a:r>
            <a:r>
              <a:rPr lang="en-US" altLang="zh-CN" sz="1400" dirty="0" smtClean="0"/>
              <a:t>notice</a:t>
            </a:r>
            <a:r>
              <a:rPr lang="zh-CN" altLang="en-US" sz="1400" dirty="0" smtClean="0"/>
              <a:t>、</a:t>
            </a:r>
            <a:r>
              <a:rPr lang="en-US" altLang="zh-CN" sz="1400" dirty="0" smtClean="0"/>
              <a:t>warning</a:t>
            </a:r>
          </a:p>
          <a:p>
            <a:r>
              <a:rPr lang="en-US" altLang="zh-CN" sz="1400" dirty="0" err="1" smtClean="0"/>
              <a:t>logfile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配置</a:t>
            </a:r>
            <a:r>
              <a:rPr lang="en-US" altLang="zh-CN" sz="1400" dirty="0" smtClean="0"/>
              <a:t>log</a:t>
            </a:r>
            <a:r>
              <a:rPr lang="zh-CN" altLang="en-US" sz="1400" dirty="0" smtClean="0"/>
              <a:t>文件地址</a:t>
            </a:r>
          </a:p>
          <a:p>
            <a:r>
              <a:rPr lang="en-US" altLang="zh-CN" sz="1400" dirty="0" smtClean="0"/>
              <a:t>databases </a:t>
            </a:r>
            <a:r>
              <a:rPr lang="zh-CN" altLang="en-US" sz="1400" dirty="0" smtClean="0"/>
              <a:t>设置数据库的个数</a:t>
            </a:r>
            <a:r>
              <a:rPr lang="en-US" altLang="zh-CN" sz="1400" dirty="0" smtClean="0"/>
              <a:t>,</a:t>
            </a:r>
            <a:r>
              <a:rPr lang="zh-CN" altLang="en-US" sz="1400" dirty="0" smtClean="0"/>
              <a:t>默认使用的数据库为</a:t>
            </a:r>
            <a:r>
              <a:rPr lang="en-US" altLang="zh-CN" sz="1400" dirty="0" smtClean="0"/>
              <a:t>0</a:t>
            </a:r>
          </a:p>
          <a:p>
            <a:r>
              <a:rPr lang="en-US" altLang="zh-CN" sz="1400" dirty="0" smtClean="0"/>
              <a:t>save </a:t>
            </a:r>
            <a:r>
              <a:rPr lang="zh-CN" altLang="en-US" sz="1400" dirty="0" smtClean="0"/>
              <a:t>设置</a:t>
            </a:r>
            <a:r>
              <a:rPr lang="en-US" altLang="zh-CN" sz="1400" dirty="0" err="1" smtClean="0"/>
              <a:t>redis</a:t>
            </a:r>
            <a:r>
              <a:rPr lang="zh-CN" altLang="en-US" sz="1400" dirty="0" smtClean="0"/>
              <a:t>进行数据库镜像的频率</a:t>
            </a:r>
          </a:p>
          <a:p>
            <a:r>
              <a:rPr lang="en-US" altLang="zh-CN" sz="1400" dirty="0" err="1" smtClean="0"/>
              <a:t>rdbcompression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在进行镜像备份时</a:t>
            </a:r>
            <a:r>
              <a:rPr lang="en-US" altLang="zh-CN" sz="1400" dirty="0" smtClean="0"/>
              <a:t>,</a:t>
            </a:r>
            <a:r>
              <a:rPr lang="zh-CN" altLang="en-US" sz="1400" dirty="0" smtClean="0"/>
              <a:t>是否进行压缩</a:t>
            </a:r>
          </a:p>
          <a:p>
            <a:r>
              <a:rPr lang="en-US" altLang="zh-CN" sz="1400" dirty="0" err="1" smtClean="0"/>
              <a:t>Dbfilename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镜像备份文件的文件名</a:t>
            </a:r>
          </a:p>
          <a:p>
            <a:r>
              <a:rPr lang="en-US" altLang="zh-CN" sz="1400" dirty="0" err="1" smtClean="0"/>
              <a:t>Dir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数据库镜像备份的文件放置路径</a:t>
            </a:r>
          </a:p>
          <a:p>
            <a:r>
              <a:rPr lang="en-US" altLang="zh-CN" sz="1400" dirty="0" err="1" smtClean="0"/>
              <a:t>Slaveof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设置数据库为其他数据库的从数据库</a:t>
            </a:r>
          </a:p>
          <a:p>
            <a:r>
              <a:rPr lang="en-US" altLang="zh-CN" sz="1400" dirty="0" err="1" smtClean="0"/>
              <a:t>Masterauth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主数据库连接需要的密码验证</a:t>
            </a:r>
          </a:p>
          <a:p>
            <a:r>
              <a:rPr lang="en-US" altLang="zh-CN" sz="1400" dirty="0" err="1" smtClean="0"/>
              <a:t>Requirepass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设置登录时需要使用的密码</a:t>
            </a:r>
          </a:p>
          <a:p>
            <a:r>
              <a:rPr lang="en-US" altLang="zh-CN" sz="1400" dirty="0" err="1" smtClean="0"/>
              <a:t>Maxclients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限制同时连接的客户数量</a:t>
            </a:r>
            <a:endParaRPr lang="en-US" altLang="zh-CN" sz="1400" dirty="0" smtClean="0"/>
          </a:p>
          <a:p>
            <a:r>
              <a:rPr lang="en-US" altLang="zh-CN" sz="1400" dirty="0" err="1"/>
              <a:t>Maxmemory</a:t>
            </a:r>
            <a:r>
              <a:rPr lang="en-US" altLang="zh-CN" sz="1400" dirty="0"/>
              <a:t> </a:t>
            </a:r>
            <a:r>
              <a:rPr lang="zh-CN" altLang="en-US" sz="1400" dirty="0"/>
              <a:t>设置</a:t>
            </a:r>
            <a:r>
              <a:rPr lang="en-US" altLang="zh-CN" sz="1400" dirty="0" err="1"/>
              <a:t>redis</a:t>
            </a:r>
            <a:r>
              <a:rPr lang="zh-CN" altLang="en-US" sz="1400" dirty="0"/>
              <a:t>能够使用的最大内存</a:t>
            </a:r>
          </a:p>
          <a:p>
            <a:r>
              <a:rPr lang="en-US" altLang="zh-CN" sz="1400" dirty="0" err="1"/>
              <a:t>Appendonly</a:t>
            </a:r>
            <a:r>
              <a:rPr lang="en-US" altLang="zh-CN" sz="1400" dirty="0"/>
              <a:t> </a:t>
            </a:r>
            <a:r>
              <a:rPr lang="zh-CN" altLang="en-US" sz="1400" dirty="0"/>
              <a:t>开启</a:t>
            </a:r>
            <a:r>
              <a:rPr lang="en-US" altLang="zh-CN" sz="1400" dirty="0"/>
              <a:t>append only</a:t>
            </a:r>
            <a:r>
              <a:rPr lang="zh-CN" altLang="en-US" sz="1400" dirty="0"/>
              <a:t>模式</a:t>
            </a:r>
          </a:p>
          <a:p>
            <a:pPr marL="0" indent="0">
              <a:buNone/>
            </a:pPr>
            <a:endParaRPr lang="zh-CN" altLang="en-US" sz="1400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604562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400" dirty="0" smtClean="0"/>
              <a:t>以下了解即可</a:t>
            </a:r>
            <a:r>
              <a:rPr lang="en-US" altLang="zh-CN" sz="1400" dirty="0" smtClean="0"/>
              <a:t>:</a:t>
            </a:r>
          </a:p>
          <a:p>
            <a:r>
              <a:rPr lang="en-US" altLang="zh-CN" sz="1400" dirty="0" err="1" smtClean="0"/>
              <a:t>Appendfsync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设置对</a:t>
            </a:r>
            <a:r>
              <a:rPr lang="en-US" altLang="zh-CN" sz="1400" dirty="0" err="1" smtClean="0"/>
              <a:t>appendonly.aof</a:t>
            </a:r>
            <a:r>
              <a:rPr lang="zh-CN" altLang="en-US" sz="1400" dirty="0" smtClean="0"/>
              <a:t>文件同步的频率</a:t>
            </a:r>
          </a:p>
          <a:p>
            <a:r>
              <a:rPr lang="en-US" altLang="zh-CN" sz="1400" dirty="0" err="1" smtClean="0"/>
              <a:t>vm</a:t>
            </a:r>
            <a:r>
              <a:rPr lang="en-US" altLang="zh-CN" sz="1400" dirty="0" smtClean="0"/>
              <a:t>-enabled </a:t>
            </a:r>
            <a:r>
              <a:rPr lang="zh-CN" altLang="en-US" sz="1400" dirty="0" smtClean="0"/>
              <a:t>是否开启虚拟内存支持</a:t>
            </a:r>
          </a:p>
          <a:p>
            <a:r>
              <a:rPr lang="en-US" altLang="zh-CN" sz="1400" dirty="0" err="1" smtClean="0"/>
              <a:t>vm</a:t>
            </a:r>
            <a:r>
              <a:rPr lang="en-US" altLang="zh-CN" sz="1400" dirty="0" smtClean="0"/>
              <a:t>-swap-file </a:t>
            </a:r>
            <a:r>
              <a:rPr lang="zh-CN" altLang="en-US" sz="1400" dirty="0" smtClean="0"/>
              <a:t>设置虚拟内存的交换文件路径</a:t>
            </a:r>
          </a:p>
          <a:p>
            <a:r>
              <a:rPr lang="en-US" altLang="zh-CN" sz="1400" dirty="0" err="1" smtClean="0"/>
              <a:t>vm</a:t>
            </a:r>
            <a:r>
              <a:rPr lang="en-US" altLang="zh-CN" sz="1400" dirty="0" smtClean="0"/>
              <a:t>-max-memory </a:t>
            </a:r>
            <a:r>
              <a:rPr lang="zh-CN" altLang="en-US" sz="1400" dirty="0" smtClean="0"/>
              <a:t>设置</a:t>
            </a:r>
            <a:r>
              <a:rPr lang="en-US" altLang="zh-CN" sz="1400" dirty="0" err="1" smtClean="0"/>
              <a:t>redis</a:t>
            </a:r>
            <a:r>
              <a:rPr lang="zh-CN" altLang="en-US" sz="1400" dirty="0" smtClean="0"/>
              <a:t>使用的最大物理内存大小</a:t>
            </a:r>
          </a:p>
          <a:p>
            <a:r>
              <a:rPr lang="en-US" altLang="zh-CN" sz="1400" dirty="0" err="1" smtClean="0"/>
              <a:t>vm</a:t>
            </a:r>
            <a:r>
              <a:rPr lang="en-US" altLang="zh-CN" sz="1400" dirty="0" smtClean="0"/>
              <a:t>-page-size </a:t>
            </a:r>
            <a:r>
              <a:rPr lang="zh-CN" altLang="en-US" sz="1400" dirty="0" smtClean="0"/>
              <a:t>设置虚拟内存的页大小</a:t>
            </a:r>
          </a:p>
          <a:p>
            <a:r>
              <a:rPr lang="en-US" altLang="zh-CN" sz="1400" dirty="0" err="1" smtClean="0"/>
              <a:t>vm</a:t>
            </a:r>
            <a:r>
              <a:rPr lang="en-US" altLang="zh-CN" sz="1400" dirty="0" smtClean="0"/>
              <a:t>-pages </a:t>
            </a:r>
            <a:r>
              <a:rPr lang="zh-CN" altLang="en-US" sz="1400" dirty="0" smtClean="0"/>
              <a:t>设置交换文件的总的</a:t>
            </a:r>
            <a:r>
              <a:rPr lang="en-US" altLang="zh-CN" sz="1400" dirty="0" smtClean="0"/>
              <a:t>page</a:t>
            </a:r>
            <a:r>
              <a:rPr lang="zh-CN" altLang="en-US" sz="1400" dirty="0" smtClean="0"/>
              <a:t>数量</a:t>
            </a:r>
          </a:p>
          <a:p>
            <a:r>
              <a:rPr lang="en-US" altLang="zh-CN" sz="1400" dirty="0" err="1" smtClean="0"/>
              <a:t>vm</a:t>
            </a:r>
            <a:r>
              <a:rPr lang="en-US" altLang="zh-CN" sz="1400" dirty="0" smtClean="0"/>
              <a:t>-max-threads </a:t>
            </a:r>
            <a:r>
              <a:rPr lang="zh-CN" altLang="en-US" sz="1400" dirty="0" smtClean="0"/>
              <a:t>设置</a:t>
            </a:r>
            <a:r>
              <a:rPr lang="en-US" altLang="zh-CN" sz="1400" dirty="0" smtClean="0"/>
              <a:t>VM IO</a:t>
            </a:r>
            <a:r>
              <a:rPr lang="zh-CN" altLang="en-US" sz="1400" dirty="0" smtClean="0"/>
              <a:t>同时使用的线程数量</a:t>
            </a:r>
          </a:p>
          <a:p>
            <a:r>
              <a:rPr lang="en-US" altLang="zh-CN" sz="1400" dirty="0" err="1" smtClean="0"/>
              <a:t>Glueoutputbuf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把小的输出缓存存放在一起</a:t>
            </a:r>
          </a:p>
          <a:p>
            <a:r>
              <a:rPr lang="en-US" altLang="zh-CN" sz="1400" dirty="0" smtClean="0"/>
              <a:t>hash-max-</a:t>
            </a:r>
            <a:r>
              <a:rPr lang="en-US" altLang="zh-CN" sz="1400" dirty="0" err="1" smtClean="0"/>
              <a:t>zipmap</a:t>
            </a:r>
            <a:r>
              <a:rPr lang="en-US" altLang="zh-CN" sz="1400" dirty="0" smtClean="0"/>
              <a:t>-entries </a:t>
            </a:r>
            <a:r>
              <a:rPr lang="zh-CN" altLang="en-US" sz="1400" dirty="0" smtClean="0"/>
              <a:t>设置</a:t>
            </a:r>
            <a:r>
              <a:rPr lang="en-US" altLang="zh-CN" sz="1400" dirty="0" smtClean="0"/>
              <a:t>hash</a:t>
            </a:r>
            <a:r>
              <a:rPr lang="zh-CN" altLang="en-US" sz="1400" dirty="0" smtClean="0"/>
              <a:t>的临界值</a:t>
            </a:r>
          </a:p>
          <a:p>
            <a:r>
              <a:rPr lang="en-US" altLang="zh-CN" sz="1400" dirty="0" err="1" smtClean="0"/>
              <a:t>Activerehashing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重新</a:t>
            </a:r>
            <a:r>
              <a:rPr lang="en-US" altLang="zh-CN" sz="1400" dirty="0" smtClean="0"/>
              <a:t>hash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512348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34585" y="2017713"/>
            <a:ext cx="10363200" cy="4114800"/>
          </a:xfrm>
        </p:spPr>
        <p:txBody>
          <a:bodyPr/>
          <a:lstStyle/>
          <a:p>
            <a:r>
              <a:rPr lang="en-US" altLang="zh-CN" sz="2800" dirty="0"/>
              <a:t>S</a:t>
            </a:r>
            <a:r>
              <a:rPr lang="zh-CN" altLang="en-US" sz="2800" dirty="0" smtClean="0"/>
              <a:t>tring(字符串)</a:t>
            </a:r>
          </a:p>
          <a:p>
            <a:r>
              <a:rPr lang="en-US" altLang="zh-CN" sz="2800" dirty="0"/>
              <a:t>L</a:t>
            </a:r>
            <a:r>
              <a:rPr lang="zh-CN" altLang="en-US" sz="2800" dirty="0" smtClean="0"/>
              <a:t>ist(双向链表)</a:t>
            </a:r>
            <a:endParaRPr lang="en-US" altLang="zh-CN" sz="2800" dirty="0" smtClean="0"/>
          </a:p>
          <a:p>
            <a:r>
              <a:rPr lang="en-US" altLang="zh-CN" sz="2800" dirty="0"/>
              <a:t>H</a:t>
            </a:r>
            <a:r>
              <a:rPr lang="zh-CN" altLang="en-US" sz="2800" dirty="0"/>
              <a:t>ash(散列</a:t>
            </a:r>
            <a:r>
              <a:rPr lang="zh-CN" altLang="en-US" sz="2800" dirty="0" smtClean="0"/>
              <a:t>)</a:t>
            </a:r>
          </a:p>
          <a:p>
            <a:r>
              <a:rPr lang="en-US" altLang="zh-CN" sz="2800" dirty="0"/>
              <a:t>S</a:t>
            </a:r>
            <a:r>
              <a:rPr lang="zh-CN" altLang="en-US" sz="2800" dirty="0" smtClean="0"/>
              <a:t>et(无序集合)</a:t>
            </a:r>
          </a:p>
          <a:p>
            <a:r>
              <a:rPr lang="en-US" altLang="zh-CN" sz="2800" dirty="0" err="1" smtClean="0"/>
              <a:t>ZSet</a:t>
            </a:r>
            <a:r>
              <a:rPr lang="zh-CN" altLang="en-US" sz="2800" dirty="0" smtClean="0"/>
              <a:t>(有序集合)</a:t>
            </a:r>
          </a:p>
        </p:txBody>
      </p:sp>
    </p:spTree>
    <p:extLst>
      <p:ext uri="{BB962C8B-B14F-4D97-AF65-F5344CB8AC3E}">
        <p14:creationId xmlns:p14="http://schemas.microsoft.com/office/powerpoint/2010/main" val="34440964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数据类型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4030675"/>
              </p:ext>
            </p:extLst>
          </p:nvPr>
        </p:nvGraphicFramePr>
        <p:xfrm>
          <a:off x="1318847" y="2017713"/>
          <a:ext cx="8836268" cy="4114800"/>
        </p:xfrm>
        <a:graphic>
          <a:graphicData uri="http://schemas.openxmlformats.org/drawingml/2006/table">
            <a:tbl>
              <a:tblPr/>
              <a:tblGrid>
                <a:gridCol w="2224453"/>
                <a:gridCol w="3928089"/>
                <a:gridCol w="2683726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 i="0" dirty="0">
                          <a:solidFill>
                            <a:schemeClr val="tx1"/>
                          </a:solidFill>
                          <a:effectLst/>
                        </a:rPr>
                        <a:t>结构类型</a:t>
                      </a:r>
                    </a:p>
                  </a:txBody>
                  <a:tcPr marL="57150" marR="57150" marT="28575" marB="2857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 i="0" dirty="0">
                          <a:solidFill>
                            <a:schemeClr val="tx1"/>
                          </a:solidFill>
                          <a:effectLst/>
                        </a:rPr>
                        <a:t>结构存储的值</a:t>
                      </a:r>
                    </a:p>
                  </a:txBody>
                  <a:tcPr marL="57150" marR="57150" marT="28575" marB="2857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 i="0" dirty="0">
                          <a:solidFill>
                            <a:schemeClr val="tx1"/>
                          </a:solidFill>
                          <a:effectLst/>
                        </a:rPr>
                        <a:t>结构的读写能力</a:t>
                      </a:r>
                    </a:p>
                  </a:txBody>
                  <a:tcPr marL="57150" marR="57150" marT="28575" marB="2857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sz="1100" b="1" dirty="0" smtClean="0">
                          <a:solidFill>
                            <a:schemeClr val="tx1"/>
                          </a:solidFill>
                          <a:effectLst/>
                        </a:rPr>
                        <a:t>String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150" marR="57150" marT="28575" marB="2857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/>
                          </a:solidFill>
                          <a:effectLst/>
                        </a:rPr>
                        <a:t>可以是字符串、整数或者浮点数</a:t>
                      </a:r>
                    </a:p>
                  </a:txBody>
                  <a:tcPr marL="57150" marR="57150" marT="28575" marB="2857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/>
                          </a:solidFill>
                          <a:effectLst/>
                        </a:rPr>
                        <a:t>对整个字符串或者字符串的其中一部分执行操作；对整数和浮点数执行自增（</a:t>
                      </a: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increment）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effectLst/>
                        </a:rPr>
                        <a:t>或者自减（</a:t>
                      </a: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decrement）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effectLst/>
                        </a:rPr>
                        <a:t>操作</a:t>
                      </a:r>
                    </a:p>
                  </a:txBody>
                  <a:tcPr marL="57150" marR="57150" marT="28575" marB="2857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sz="1100" b="1" dirty="0" smtClean="0">
                          <a:solidFill>
                            <a:schemeClr val="tx1"/>
                          </a:solidFill>
                          <a:effectLst/>
                        </a:rPr>
                        <a:t>List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150" marR="57150" marT="28575" marB="2857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/>
                          </a:solidFill>
                          <a:effectLst/>
                        </a:rPr>
                        <a:t>一个链表，链表上的每个节点都包含了一个字符串</a:t>
                      </a:r>
                    </a:p>
                  </a:txBody>
                  <a:tcPr marL="57150" marR="57150" marT="28575" marB="2857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solidFill>
                            <a:schemeClr val="tx1"/>
                          </a:solidFill>
                          <a:effectLst/>
                        </a:rPr>
                        <a:t>从链表的两端推入或者弹出元素；根据偏移量对链表进行修剪（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effectLst/>
                        </a:rPr>
                        <a:t>trim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effectLst/>
                        </a:rPr>
                        <a:t>）；读取单个或者多个元素；根据值查找或者移除元素</a:t>
                      </a:r>
                    </a:p>
                  </a:txBody>
                  <a:tcPr marL="57150" marR="57150" marT="28575" marB="2857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sz="1100" b="1" dirty="0" smtClean="0">
                          <a:solidFill>
                            <a:schemeClr val="tx1"/>
                          </a:solidFill>
                          <a:effectLst/>
                        </a:rPr>
                        <a:t>Set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150" marR="57150" marT="28575" marB="2857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solidFill>
                            <a:schemeClr val="tx1"/>
                          </a:solidFill>
                          <a:effectLst/>
                        </a:rPr>
                        <a:t>包含字符串的无序收集器（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unordered collection），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effectLst/>
                        </a:rPr>
                        <a:t>并且被包含的每个字符串都是独一无二、各不相同的</a:t>
                      </a:r>
                    </a:p>
                  </a:txBody>
                  <a:tcPr marL="57150" marR="57150" marT="28575" marB="2857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/>
                          </a:solidFill>
                          <a:effectLst/>
                        </a:rPr>
                        <a:t>添加、获取、移除单个元素；检查一个元素是否存在于集合中；计算交集、并集、差集；从集合里面随机获取元素</a:t>
                      </a:r>
                    </a:p>
                  </a:txBody>
                  <a:tcPr marL="57150" marR="57150" marT="28575" marB="2857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lang="en-US" sz="1100" b="1" dirty="0" smtClean="0">
                          <a:solidFill>
                            <a:schemeClr val="tx1"/>
                          </a:solidFill>
                          <a:effectLst/>
                        </a:rPr>
                        <a:t>Hash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150" marR="57150" marT="28575" marB="2857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solidFill>
                            <a:schemeClr val="tx1"/>
                          </a:solidFill>
                          <a:effectLst/>
                        </a:rPr>
                        <a:t>包含键值对的无序散列表</a:t>
                      </a:r>
                    </a:p>
                  </a:txBody>
                  <a:tcPr marL="57150" marR="57150" marT="28575" marB="2857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solidFill>
                            <a:schemeClr val="tx1"/>
                          </a:solidFill>
                          <a:effectLst/>
                        </a:rPr>
                        <a:t>添加、获取、移除单个键值对；获取所有键值对</a:t>
                      </a:r>
                    </a:p>
                  </a:txBody>
                  <a:tcPr marL="57150" marR="57150" marT="28575" marB="2857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lang="en-US" sz="1100" b="1" dirty="0" err="1" smtClean="0">
                          <a:solidFill>
                            <a:schemeClr val="tx1"/>
                          </a:solidFill>
                          <a:effectLst/>
                        </a:rPr>
                        <a:t>ZSet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effectLst/>
                        </a:rPr>
                        <a:t>有序集合）</a:t>
                      </a:r>
                    </a:p>
                  </a:txBody>
                  <a:tcPr marL="57150" marR="57150" marT="28575" marB="2857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chemeClr val="tx1"/>
                          </a:solidFill>
                          <a:effectLst/>
                        </a:rPr>
                        <a:t>字符串成员（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effectLst/>
                        </a:rPr>
                        <a:t>member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effectLst/>
                        </a:rPr>
                        <a:t>）与浮点数分值（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effectLst/>
                        </a:rPr>
                        <a:t>score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effectLst/>
                        </a:rPr>
                        <a:t>）之间的有序映射，元素的排列顺序由分值的大小决定</a:t>
                      </a:r>
                    </a:p>
                  </a:txBody>
                  <a:tcPr marL="57150" marR="57150" marT="28575" marB="2857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solidFill>
                            <a:schemeClr val="tx1"/>
                          </a:solidFill>
                          <a:effectLst/>
                        </a:rPr>
                        <a:t>添加、获取、删除单个元素；根据分值范围（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effectLst/>
                        </a:rPr>
                        <a:t>range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effectLst/>
                        </a:rPr>
                        <a:t>）或者成员来获取元素</a:t>
                      </a:r>
                    </a:p>
                  </a:txBody>
                  <a:tcPr marL="57150" marR="57150" marT="28575" marB="2857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35511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String(</a:t>
            </a:r>
            <a:r>
              <a:rPr lang="zh-CN" altLang="en-US" dirty="0" smtClean="0"/>
              <a:t>字符串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76917" y="2017712"/>
            <a:ext cx="10363200" cy="4605510"/>
          </a:xfrm>
        </p:spPr>
        <p:txBody>
          <a:bodyPr/>
          <a:lstStyle/>
          <a:p>
            <a:r>
              <a:rPr lang="en-US" altLang="zh-CN" sz="2000" dirty="0" smtClean="0"/>
              <a:t>String</a:t>
            </a:r>
            <a:r>
              <a:rPr lang="zh-CN" altLang="en-US" sz="2000" dirty="0" smtClean="0"/>
              <a:t>类型是</a:t>
            </a:r>
            <a:r>
              <a:rPr lang="en-US" altLang="zh-CN" sz="2000" dirty="0" err="1" smtClean="0"/>
              <a:t>Redis</a:t>
            </a:r>
            <a:r>
              <a:rPr lang="zh-CN" altLang="en-US" sz="2000" dirty="0" smtClean="0"/>
              <a:t>中</a:t>
            </a:r>
            <a:r>
              <a:rPr lang="zh-CN" altLang="en-US" sz="2000" dirty="0"/>
              <a:t>最基本的</a:t>
            </a:r>
            <a:r>
              <a:rPr lang="zh-CN" altLang="en-US" sz="2000" dirty="0" smtClean="0"/>
              <a:t>数据类型，</a:t>
            </a:r>
            <a:r>
              <a:rPr lang="zh-CN" altLang="en-US" sz="2000" dirty="0"/>
              <a:t>最常用的数据类型，甚至被</a:t>
            </a:r>
            <a:r>
              <a:rPr lang="zh-CN" altLang="en-US" sz="2000" dirty="0" smtClean="0"/>
              <a:t>很多</a:t>
            </a:r>
            <a:r>
              <a:rPr lang="zh-CN" altLang="en-US" sz="2000" dirty="0"/>
              <a:t>使用者</a:t>
            </a:r>
            <a:r>
              <a:rPr lang="zh-CN" altLang="en-US" sz="2000" dirty="0" smtClean="0"/>
              <a:t>当</a:t>
            </a:r>
            <a:r>
              <a:rPr lang="en-US" altLang="zh-CN" sz="2000" dirty="0" err="1" smtClean="0"/>
              <a:t>Redis</a:t>
            </a:r>
            <a:r>
              <a:rPr lang="en-US" altLang="zh-CN" sz="2000" dirty="0" smtClean="0"/>
              <a:t> </a:t>
            </a:r>
            <a:r>
              <a:rPr lang="zh-CN" altLang="en-US" sz="2000" dirty="0"/>
              <a:t>唯一的数据类型去使用</a:t>
            </a:r>
            <a:r>
              <a:rPr lang="zh-CN" altLang="en-US" sz="2000" dirty="0" smtClean="0"/>
              <a:t>。其数据模型是基本的</a:t>
            </a:r>
            <a:r>
              <a:rPr lang="en-US" altLang="zh-CN" sz="2000" dirty="0" smtClean="0"/>
              <a:t>Key-Value</a:t>
            </a:r>
            <a:r>
              <a:rPr lang="zh-CN" altLang="en-US" sz="2000" dirty="0" smtClean="0"/>
              <a:t>结构。</a:t>
            </a:r>
            <a:endParaRPr lang="en-US" altLang="zh-CN" sz="2000" dirty="0" smtClean="0"/>
          </a:p>
          <a:p>
            <a:r>
              <a:rPr lang="en-US" altLang="zh-CN" sz="2000" dirty="0" smtClean="0"/>
              <a:t>String</a:t>
            </a:r>
            <a:r>
              <a:rPr lang="zh-CN" altLang="en-US" sz="2000" dirty="0" smtClean="0"/>
              <a:t>类型</a:t>
            </a:r>
            <a:r>
              <a:rPr lang="en-US" altLang="zh-CN" sz="2000" dirty="0" err="1"/>
              <a:t>Redis</a:t>
            </a:r>
            <a:r>
              <a:rPr lang="zh-CN" altLang="en-US" sz="2000" dirty="0"/>
              <a:t>中的</a:t>
            </a:r>
            <a:r>
              <a:rPr lang="en-US" altLang="zh-CN" sz="2000" dirty="0"/>
              <a:t>String </a:t>
            </a:r>
            <a:r>
              <a:rPr lang="zh-CN" altLang="en-US" sz="2000" dirty="0"/>
              <a:t>类型是二进制安全的，也就是说在</a:t>
            </a:r>
            <a:r>
              <a:rPr lang="en-US" altLang="zh-CN" sz="2000" dirty="0" err="1"/>
              <a:t>Redis</a:t>
            </a:r>
            <a:r>
              <a:rPr lang="zh-CN" altLang="en-US" sz="2000" dirty="0"/>
              <a:t>中</a:t>
            </a:r>
            <a:r>
              <a:rPr lang="en-US" altLang="zh-CN" sz="2000" dirty="0"/>
              <a:t>String</a:t>
            </a:r>
            <a:r>
              <a:rPr lang="zh-CN" altLang="en-US" sz="2000" dirty="0"/>
              <a:t>类型可以包含各种数据，比如一张</a:t>
            </a:r>
            <a:r>
              <a:rPr lang="en-US" altLang="zh-CN" sz="2000" dirty="0"/>
              <a:t>JPEG</a:t>
            </a:r>
            <a:r>
              <a:rPr lang="zh-CN" altLang="en-US" sz="2000" dirty="0"/>
              <a:t>图片或者是一个序列化的</a:t>
            </a:r>
            <a:r>
              <a:rPr lang="en-US" altLang="zh-CN" sz="2000" dirty="0"/>
              <a:t>Ruby</a:t>
            </a:r>
            <a:r>
              <a:rPr lang="zh-CN" altLang="en-US" sz="2000" dirty="0"/>
              <a:t>对象。一个</a:t>
            </a:r>
            <a:r>
              <a:rPr lang="en-US" altLang="zh-CN" sz="2000" dirty="0"/>
              <a:t>String</a:t>
            </a:r>
            <a:r>
              <a:rPr lang="zh-CN" altLang="en-US" sz="2000" dirty="0"/>
              <a:t>类型的值最大长度可以是</a:t>
            </a:r>
            <a:r>
              <a:rPr lang="en-US" altLang="zh-CN" sz="2000" dirty="0" smtClean="0"/>
              <a:t>512M</a:t>
            </a:r>
            <a:r>
              <a:rPr lang="zh-CN" altLang="en-US" sz="2000" dirty="0" smtClean="0"/>
              <a:t>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1248140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String</a:t>
            </a:r>
            <a:r>
              <a:rPr lang="zh-CN" altLang="en-US" dirty="0" smtClean="0"/>
              <a:t>类型相关命令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76917" y="2017712"/>
            <a:ext cx="10363200" cy="4605510"/>
          </a:xfrm>
        </p:spPr>
        <p:txBody>
          <a:bodyPr/>
          <a:lstStyle/>
          <a:p>
            <a:r>
              <a:rPr lang="en-US" altLang="zh-CN" sz="1400" dirty="0" smtClean="0"/>
              <a:t>SET key value                                       #</a:t>
            </a:r>
            <a:r>
              <a:rPr lang="zh-CN" altLang="en-US" sz="1400" dirty="0"/>
              <a:t>此命令设置指定键的值</a:t>
            </a:r>
            <a:endParaRPr lang="en-US" altLang="zh-CN" sz="1400" dirty="0" smtClean="0"/>
          </a:p>
          <a:p>
            <a:r>
              <a:rPr lang="en-US" altLang="zh-CN" sz="1400" dirty="0" smtClean="0"/>
              <a:t>GET key                                               #</a:t>
            </a:r>
            <a:r>
              <a:rPr lang="zh-CN" altLang="en-US" sz="1400" dirty="0"/>
              <a:t>获取指定键的</a:t>
            </a:r>
            <a:r>
              <a:rPr lang="zh-CN" altLang="en-US" sz="1400" dirty="0" smtClean="0"/>
              <a:t>值</a:t>
            </a:r>
            <a:endParaRPr lang="en-US" altLang="zh-CN" sz="1400" dirty="0" smtClean="0"/>
          </a:p>
          <a:p>
            <a:r>
              <a:rPr lang="en-US" altLang="zh-CN" sz="1400" dirty="0" smtClean="0"/>
              <a:t>GETRANGE key start end                        #</a:t>
            </a:r>
            <a:r>
              <a:rPr lang="zh-CN" altLang="en-US" sz="1400" dirty="0"/>
              <a:t>获取存储在键上的字符串的子</a:t>
            </a:r>
            <a:r>
              <a:rPr lang="zh-CN" altLang="en-US" sz="1400" dirty="0" smtClean="0"/>
              <a:t>字符串</a:t>
            </a:r>
            <a:endParaRPr lang="en-US" altLang="zh-CN" sz="1400" dirty="0" smtClean="0"/>
          </a:p>
          <a:p>
            <a:r>
              <a:rPr lang="en-US" altLang="zh-CN" sz="1400" dirty="0" smtClean="0"/>
              <a:t>GETSET key value                                  #</a:t>
            </a:r>
            <a:r>
              <a:rPr lang="zh-CN" altLang="en-US" sz="1400" dirty="0"/>
              <a:t>设置键的字符串值并返回其旧值</a:t>
            </a:r>
            <a:endParaRPr lang="zh-CN" altLang="en-US" sz="1400" dirty="0" smtClean="0"/>
          </a:p>
          <a:p>
            <a:r>
              <a:rPr lang="en-US" altLang="zh-CN" sz="1400" dirty="0" smtClean="0"/>
              <a:t>GETBIT key offset                                  #</a:t>
            </a:r>
            <a:r>
              <a:rPr lang="zh-CN" altLang="en-US" sz="1400" dirty="0"/>
              <a:t>返回在键处存储的字符串值中偏移处的位</a:t>
            </a:r>
            <a:r>
              <a:rPr lang="zh-CN" altLang="en-US" sz="1400" dirty="0" smtClean="0"/>
              <a:t>值</a:t>
            </a:r>
            <a:endParaRPr lang="en-US" altLang="zh-CN" sz="1400" dirty="0" smtClean="0"/>
          </a:p>
          <a:p>
            <a:r>
              <a:rPr lang="en-US" altLang="zh-CN" sz="1400" dirty="0" smtClean="0"/>
              <a:t>MGET key1 [key2…] </a:t>
            </a:r>
            <a:r>
              <a:rPr lang="zh-CN" altLang="en-US" sz="1400" dirty="0" smtClean="0"/>
              <a:t>   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一次获取多个键的</a:t>
            </a:r>
            <a:r>
              <a:rPr lang="zh-CN" altLang="en-US" sz="1400" dirty="0" smtClean="0"/>
              <a:t>值</a:t>
            </a:r>
          </a:p>
          <a:p>
            <a:r>
              <a:rPr lang="en-US" altLang="zh-CN" sz="1400" dirty="0" smtClean="0"/>
              <a:t>SETBIT key offset value                          #</a:t>
            </a:r>
            <a:r>
              <a:rPr lang="zh-CN" altLang="en-US" sz="1400" dirty="0"/>
              <a:t>存储在键上的字符串值中设置或清除偏移处的</a:t>
            </a:r>
            <a:r>
              <a:rPr lang="zh-CN" altLang="en-US" sz="1400" dirty="0" smtClean="0"/>
              <a:t>位</a:t>
            </a:r>
            <a:endParaRPr lang="en-US" altLang="zh-CN" sz="1400" dirty="0" smtClean="0"/>
          </a:p>
          <a:p>
            <a:r>
              <a:rPr lang="en-US" altLang="zh-CN" sz="1400" dirty="0" smtClean="0"/>
              <a:t>SETEX key seconds value                        #</a:t>
            </a:r>
            <a:r>
              <a:rPr lang="zh-CN" altLang="en-US" sz="1400" dirty="0"/>
              <a:t>使用键和到期时间来设置</a:t>
            </a:r>
            <a:r>
              <a:rPr lang="zh-CN" altLang="en-US" sz="1400" dirty="0" smtClean="0"/>
              <a:t>值</a:t>
            </a:r>
            <a:endParaRPr lang="en-US" altLang="zh-CN" sz="1400" dirty="0" smtClean="0"/>
          </a:p>
          <a:p>
            <a:r>
              <a:rPr lang="en-US" altLang="zh-CN" sz="1400" dirty="0" smtClean="0"/>
              <a:t>SETNX key value                                    #</a:t>
            </a:r>
            <a:r>
              <a:rPr lang="zh-CN" altLang="en-US" sz="1400" dirty="0"/>
              <a:t>设置键的值，仅当键不存在</a:t>
            </a:r>
            <a:r>
              <a:rPr lang="zh-CN" altLang="en-US" sz="1400" dirty="0" smtClean="0"/>
              <a:t>时</a:t>
            </a:r>
            <a:endParaRPr lang="en-US" altLang="zh-CN" sz="1400" dirty="0" smtClean="0"/>
          </a:p>
          <a:p>
            <a:r>
              <a:rPr lang="en-US" altLang="zh-CN" sz="1400" dirty="0" smtClean="0"/>
              <a:t>SETRANGE key offset value                     #</a:t>
            </a:r>
            <a:r>
              <a:rPr lang="zh-CN" altLang="en-US" sz="1400" dirty="0"/>
              <a:t>在指定偏移处开始的键处覆盖字符串的一部分</a:t>
            </a:r>
            <a:endParaRPr lang="zh-CN" altLang="en-US" sz="1400" dirty="0" smtClean="0"/>
          </a:p>
          <a:p>
            <a:r>
              <a:rPr lang="en-US" altLang="zh-CN" sz="1400" dirty="0" smtClean="0"/>
              <a:t>STRLEN key                                           #</a:t>
            </a:r>
            <a:r>
              <a:rPr lang="zh-CN" altLang="en-US" sz="1400" dirty="0"/>
              <a:t>获取存储在键中的值的</a:t>
            </a:r>
            <a:r>
              <a:rPr lang="zh-CN" altLang="en-US" sz="1400" dirty="0" smtClean="0"/>
              <a:t>长度</a:t>
            </a:r>
            <a:endParaRPr lang="en-US" altLang="zh-CN" sz="1400" dirty="0" smtClean="0"/>
          </a:p>
          <a:p>
            <a:r>
              <a:rPr lang="en-US" altLang="zh-CN" sz="1400" dirty="0" smtClean="0"/>
              <a:t>MSET key value [key value…]                   #</a:t>
            </a:r>
            <a:r>
              <a:rPr lang="zh-CN" altLang="en-US" sz="1400" dirty="0"/>
              <a:t>为多个键分别设置它们的值</a:t>
            </a:r>
            <a:endParaRPr lang="en-US" altLang="zh-CN" sz="1400" dirty="0" smtClean="0"/>
          </a:p>
          <a:p>
            <a:r>
              <a:rPr lang="en-US" altLang="zh-CN" sz="1400" dirty="0" smtClean="0"/>
              <a:t>MSETNX key value [key value…]               #</a:t>
            </a:r>
            <a:r>
              <a:rPr lang="zh-CN" altLang="en-US" sz="1400" dirty="0" smtClean="0"/>
              <a:t>为多个键分别设置它们的值，仅当键不存在时</a:t>
            </a:r>
            <a:endParaRPr lang="en-US" altLang="zh-CN" sz="1400" dirty="0" smtClean="0"/>
          </a:p>
          <a:p>
            <a:r>
              <a:rPr lang="en-US" altLang="zh-CN" sz="1400" dirty="0" smtClean="0"/>
              <a:t>INCR key                                                #</a:t>
            </a:r>
            <a:r>
              <a:rPr lang="zh-CN" altLang="en-US" sz="1400" dirty="0" smtClean="0"/>
              <a:t>将键的整数值加</a:t>
            </a:r>
            <a:r>
              <a:rPr lang="en-US" altLang="zh-CN" sz="1400" dirty="0" smtClean="0"/>
              <a:t>1</a:t>
            </a:r>
          </a:p>
          <a:p>
            <a:r>
              <a:rPr lang="en-US" altLang="zh-CN" sz="1400" dirty="0" smtClean="0"/>
              <a:t>INCRBY key increment                             #</a:t>
            </a:r>
            <a:r>
              <a:rPr lang="zh-CN" altLang="en-US" sz="1400" dirty="0" smtClean="0"/>
              <a:t>将键的整数值按给定的数值增加</a:t>
            </a:r>
            <a:endParaRPr lang="en-US" altLang="zh-CN" sz="1400" dirty="0" smtClean="0"/>
          </a:p>
          <a:p>
            <a:r>
              <a:rPr lang="en-US" altLang="zh-CN" sz="1400" dirty="0" smtClean="0"/>
              <a:t>DECR key                                               #</a:t>
            </a:r>
            <a:r>
              <a:rPr lang="zh-CN" altLang="en-US" sz="1400" dirty="0" smtClean="0"/>
              <a:t>将键的整数值减</a:t>
            </a:r>
            <a:r>
              <a:rPr lang="en-US" altLang="zh-CN" sz="1400" dirty="0" smtClean="0"/>
              <a:t>1</a:t>
            </a:r>
          </a:p>
          <a:p>
            <a:r>
              <a:rPr lang="en-US" altLang="zh-CN" sz="1400" dirty="0" smtClean="0"/>
              <a:t>DECRBY key decrement                            #</a:t>
            </a:r>
            <a:r>
              <a:rPr lang="zh-CN" altLang="en-US" sz="1400" dirty="0" smtClean="0"/>
              <a:t>将键的整数值按给定数值减少</a:t>
            </a:r>
            <a:endParaRPr lang="en-US" altLang="zh-CN" sz="1400" dirty="0" smtClean="0"/>
          </a:p>
          <a:p>
            <a:r>
              <a:rPr lang="en-US" altLang="zh-CN" sz="1400" dirty="0" smtClean="0"/>
              <a:t>APPEND key value                                    #</a:t>
            </a:r>
            <a:r>
              <a:rPr lang="zh-CN" altLang="en-US" sz="1400" dirty="0" smtClean="0"/>
              <a:t>将指定值附加到键</a:t>
            </a:r>
            <a:r>
              <a:rPr lang="en-US" altLang="zh-CN" sz="1400" dirty="0" smtClean="0"/>
              <a:t> </a:t>
            </a:r>
            <a:endParaRPr lang="zh-CN" altLang="en-US" sz="1400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77818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String</a:t>
            </a:r>
            <a:r>
              <a:rPr lang="zh-CN" altLang="en-US" dirty="0" smtClean="0"/>
              <a:t>应用场景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计数器</a:t>
            </a:r>
            <a:endParaRPr lang="en-US" altLang="zh-CN" dirty="0" smtClean="0"/>
          </a:p>
          <a:p>
            <a:r>
              <a:rPr lang="zh-CN" altLang="en-US" dirty="0" smtClean="0"/>
              <a:t>分布式锁（注意死锁问题）</a:t>
            </a:r>
            <a:endParaRPr lang="en-US" altLang="zh-CN" dirty="0" smtClean="0"/>
          </a:p>
          <a:p>
            <a:r>
              <a:rPr lang="zh-CN" altLang="en-US" dirty="0" smtClean="0"/>
              <a:t>缓存（注意热点</a:t>
            </a:r>
            <a:r>
              <a:rPr lang="en-US" altLang="zh-CN" dirty="0" smtClean="0"/>
              <a:t>key</a:t>
            </a:r>
            <a:r>
              <a:rPr lang="zh-CN" altLang="en-US" dirty="0" smtClean="0"/>
              <a:t>的问题）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39916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List(</a:t>
            </a:r>
            <a:r>
              <a:rPr lang="zh-CN" altLang="en-US" dirty="0" smtClean="0"/>
              <a:t>链表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 smtClean="0"/>
              <a:t>List</a:t>
            </a:r>
            <a:r>
              <a:rPr lang="zh-CN" altLang="en-US" sz="2000" dirty="0" smtClean="0"/>
              <a:t>类型是</a:t>
            </a:r>
            <a:r>
              <a:rPr lang="zh-CN" altLang="en-US" sz="2000" dirty="0"/>
              <a:t>按照插入顺序排序的字符串链表</a:t>
            </a:r>
            <a:r>
              <a:rPr lang="zh-CN" altLang="en-US" sz="2000" dirty="0" smtClean="0"/>
              <a:t>，可以</a:t>
            </a:r>
            <a:r>
              <a:rPr lang="zh-CN" altLang="en-US" sz="2000" dirty="0"/>
              <a:t>在头部和尾部插入新的</a:t>
            </a:r>
            <a:r>
              <a:rPr lang="zh-CN" altLang="en-US" sz="2000" dirty="0" smtClean="0"/>
              <a:t>元素。</a:t>
            </a:r>
            <a:endParaRPr lang="en-US" altLang="zh-CN" sz="2000" dirty="0" smtClean="0"/>
          </a:p>
          <a:p>
            <a:r>
              <a:rPr lang="en-US" altLang="zh-CN" sz="2000" dirty="0" smtClean="0"/>
              <a:t>List</a:t>
            </a:r>
            <a:r>
              <a:rPr lang="zh-CN" altLang="en-US" sz="2000" dirty="0" smtClean="0"/>
              <a:t>类型是双向</a:t>
            </a:r>
            <a:r>
              <a:rPr lang="zh-CN" altLang="en-US" sz="2000" dirty="0"/>
              <a:t>链表实现，两端添加元素的时间复杂度为 </a:t>
            </a:r>
            <a:r>
              <a:rPr lang="en-US" altLang="zh-CN" sz="2000" dirty="0"/>
              <a:t>O(1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。</a:t>
            </a:r>
            <a:r>
              <a:rPr lang="zh-CN" altLang="en-US" sz="2000" dirty="0"/>
              <a:t>所有如果在头部和尾部插入数据，性能会非常高，不受链表长度的影响；但如果在链表中插入数据，性能就会越来越差。</a:t>
            </a:r>
          </a:p>
        </p:txBody>
      </p:sp>
    </p:spTree>
    <p:extLst>
      <p:ext uri="{BB962C8B-B14F-4D97-AF65-F5344CB8AC3E}">
        <p14:creationId xmlns:p14="http://schemas.microsoft.com/office/powerpoint/2010/main" val="6656344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List</a:t>
            </a:r>
            <a:r>
              <a:rPr lang="zh-CN" altLang="en-US" dirty="0" smtClean="0"/>
              <a:t>类型相关命令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0666" y="2017713"/>
            <a:ext cx="10452787" cy="4501840"/>
          </a:xfrm>
        </p:spPr>
        <p:txBody>
          <a:bodyPr/>
          <a:lstStyle/>
          <a:p>
            <a:r>
              <a:rPr lang="en-US" altLang="zh-CN" sz="1400" dirty="0" smtClean="0"/>
              <a:t>BLPOP key1 [key2] timeout                          #</a:t>
            </a:r>
            <a:r>
              <a:rPr lang="zh-CN" altLang="en-US" sz="1400" dirty="0"/>
              <a:t>删除并获取列表中的第一个元素，或阻塞，直到有一个元素</a:t>
            </a:r>
            <a:r>
              <a:rPr lang="zh-CN" altLang="en-US" sz="1400" dirty="0" smtClean="0"/>
              <a:t>可用</a:t>
            </a:r>
            <a:endParaRPr lang="en-US" altLang="zh-CN" sz="1400" dirty="0" smtClean="0"/>
          </a:p>
          <a:p>
            <a:r>
              <a:rPr lang="en-US" altLang="zh-CN" sz="1400" dirty="0" smtClean="0"/>
              <a:t>BRPOP key1 [key2] timeout                          #</a:t>
            </a:r>
            <a:r>
              <a:rPr lang="zh-CN" altLang="en-US" sz="1400" dirty="0"/>
              <a:t>删除并获取列表中的最后一个元素，或阻塞，直到有一个元素可用</a:t>
            </a:r>
            <a:endParaRPr lang="zh-CN" altLang="en-US" sz="1400" dirty="0" smtClean="0"/>
          </a:p>
          <a:p>
            <a:r>
              <a:rPr lang="en-US" altLang="zh-CN" sz="1400" dirty="0" smtClean="0"/>
              <a:t>BRPOPLPUSH source target timeout               #</a:t>
            </a:r>
            <a:r>
              <a:rPr lang="zh-CN" altLang="en-US" sz="1400" dirty="0"/>
              <a:t>从列表中弹出</a:t>
            </a:r>
            <a:r>
              <a:rPr lang="zh-CN" altLang="en-US" sz="1400" dirty="0" smtClean="0"/>
              <a:t>值推</a:t>
            </a:r>
            <a:r>
              <a:rPr lang="zh-CN" altLang="en-US" sz="1400" dirty="0"/>
              <a:t>送到另一个列表并返回它</a:t>
            </a:r>
            <a:r>
              <a:rPr lang="en-US" altLang="zh-CN" sz="1400" dirty="0"/>
              <a:t>; </a:t>
            </a:r>
            <a:r>
              <a:rPr lang="zh-CN" altLang="en-US" sz="1400" dirty="0"/>
              <a:t>或阻塞，直到一</a:t>
            </a:r>
            <a:r>
              <a:rPr lang="zh-CN" altLang="en-US" sz="1400" dirty="0" smtClean="0"/>
              <a:t>个</a:t>
            </a:r>
            <a:r>
              <a:rPr lang="zh-CN" altLang="en-US" sz="1400" dirty="0"/>
              <a:t>可</a:t>
            </a:r>
            <a:r>
              <a:rPr lang="zh-CN" altLang="en-US" sz="1400" dirty="0" smtClean="0"/>
              <a:t>用</a:t>
            </a:r>
            <a:endParaRPr lang="en-US" altLang="zh-CN" sz="1400" dirty="0" smtClean="0"/>
          </a:p>
          <a:p>
            <a:r>
              <a:rPr lang="en-US" altLang="zh-CN" sz="1400" dirty="0" smtClean="0"/>
              <a:t>LINDEX key index                                        #</a:t>
            </a:r>
            <a:r>
              <a:rPr lang="zh-CN" altLang="en-US" sz="1400" dirty="0"/>
              <a:t>通过其索引从列表获取元素</a:t>
            </a:r>
            <a:endParaRPr lang="zh-CN" altLang="en-US" sz="1400" dirty="0" smtClean="0"/>
          </a:p>
          <a:p>
            <a:r>
              <a:rPr lang="en-US" altLang="zh-CN" sz="1400" dirty="0" smtClean="0"/>
              <a:t>LINDEX key BEFORE/AFTER  pivot value        #</a:t>
            </a:r>
            <a:r>
              <a:rPr lang="zh-CN" altLang="en-US" sz="1400" dirty="0"/>
              <a:t>在列表中的另一个元素之前或之后插入</a:t>
            </a:r>
            <a:r>
              <a:rPr lang="zh-CN" altLang="en-US" sz="1400" dirty="0" smtClean="0"/>
              <a:t>元素</a:t>
            </a:r>
            <a:endParaRPr lang="en-US" altLang="zh-CN" sz="1400" dirty="0" smtClean="0"/>
          </a:p>
          <a:p>
            <a:r>
              <a:rPr lang="en-US" altLang="zh-CN" sz="1400" dirty="0" smtClean="0"/>
              <a:t>LLEN key                                                    #</a:t>
            </a:r>
            <a:r>
              <a:rPr lang="zh-CN" altLang="en-US" sz="1400" dirty="0"/>
              <a:t>获取列表的长度</a:t>
            </a:r>
            <a:endParaRPr lang="zh-CN" altLang="en-US" sz="1400" dirty="0" smtClean="0"/>
          </a:p>
          <a:p>
            <a:r>
              <a:rPr lang="en-US" altLang="zh-CN" sz="1400" dirty="0" smtClean="0"/>
              <a:t>LPOP key                                                    #</a:t>
            </a:r>
            <a:r>
              <a:rPr lang="zh-CN" altLang="en-US" sz="1400" dirty="0"/>
              <a:t>删除并获取列表中的第一个</a:t>
            </a:r>
            <a:r>
              <a:rPr lang="zh-CN" altLang="en-US" sz="1400" dirty="0" smtClean="0"/>
              <a:t>元素</a:t>
            </a:r>
            <a:endParaRPr lang="en-US" altLang="zh-CN" sz="1400" dirty="0" smtClean="0"/>
          </a:p>
          <a:p>
            <a:r>
              <a:rPr lang="en-US" altLang="zh-CN" sz="1400" dirty="0" smtClean="0"/>
              <a:t>LPUSH key value1 [value2]                           #</a:t>
            </a:r>
            <a:r>
              <a:rPr lang="zh-CN" altLang="en-US" sz="1400" dirty="0"/>
              <a:t>将一个或多个值添加到</a:t>
            </a:r>
            <a:r>
              <a:rPr lang="zh-CN" altLang="en-US" sz="1400" dirty="0" smtClean="0"/>
              <a:t>列表</a:t>
            </a:r>
            <a:endParaRPr lang="en-US" altLang="zh-CN" sz="1400" dirty="0" smtClean="0"/>
          </a:p>
          <a:p>
            <a:r>
              <a:rPr lang="en-US" altLang="zh-CN" sz="1400" dirty="0" smtClean="0"/>
              <a:t>LPUSHX key value                                        #</a:t>
            </a:r>
            <a:r>
              <a:rPr lang="zh-CN" altLang="en-US" sz="1400" dirty="0"/>
              <a:t>仅当列表存在时，才向列表添加</a:t>
            </a:r>
            <a:r>
              <a:rPr lang="zh-CN" altLang="en-US" sz="1400" dirty="0" smtClean="0"/>
              <a:t>值</a:t>
            </a:r>
            <a:endParaRPr lang="en-US" altLang="zh-CN" sz="1400" dirty="0" smtClean="0"/>
          </a:p>
          <a:p>
            <a:r>
              <a:rPr lang="en-US" altLang="zh-CN" sz="1400" dirty="0" smtClean="0"/>
              <a:t>LRANGE key start stop       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从列表中获取一系列</a:t>
            </a:r>
            <a:r>
              <a:rPr lang="zh-CN" altLang="en-US" sz="1400" dirty="0" smtClean="0"/>
              <a:t>元素</a:t>
            </a:r>
            <a:endParaRPr lang="en-US" altLang="zh-CN" sz="1400" dirty="0" smtClean="0"/>
          </a:p>
          <a:p>
            <a:r>
              <a:rPr lang="en-US" altLang="zh-CN" sz="1400" dirty="0" smtClean="0"/>
              <a:t>LREM key count value                                   #</a:t>
            </a:r>
            <a:r>
              <a:rPr lang="zh-CN" altLang="en-US" sz="1400" dirty="0" smtClean="0"/>
              <a:t>从列表删除元素（</a:t>
            </a:r>
            <a:r>
              <a:rPr lang="en-US" altLang="zh-CN" sz="1400" dirty="0" smtClean="0"/>
              <a:t>count&gt;0</a:t>
            </a:r>
            <a:r>
              <a:rPr lang="zh-CN" altLang="en-US" sz="1400" dirty="0" smtClean="0"/>
              <a:t>从表头到尾</a:t>
            </a:r>
            <a:r>
              <a:rPr lang="en-US" altLang="zh-CN" sz="1400" dirty="0" smtClean="0"/>
              <a:t>,count&lt;0</a:t>
            </a:r>
            <a:r>
              <a:rPr lang="zh-CN" altLang="en-US" sz="1400" dirty="0" smtClean="0"/>
              <a:t>从表尾到头</a:t>
            </a:r>
            <a:r>
              <a:rPr lang="en-US" altLang="zh-CN" sz="1400" dirty="0" smtClean="0"/>
              <a:t>,count=0</a:t>
            </a:r>
            <a:r>
              <a:rPr lang="zh-CN" altLang="en-US" sz="1400" dirty="0" smtClean="0"/>
              <a:t>删所有）</a:t>
            </a:r>
          </a:p>
          <a:p>
            <a:r>
              <a:rPr lang="en-US" altLang="zh-CN" sz="1400" dirty="0" smtClean="0"/>
              <a:t>LSET key index value                                    #</a:t>
            </a:r>
            <a:r>
              <a:rPr lang="zh-CN" altLang="en-US" sz="1400" dirty="0"/>
              <a:t>通过索引在列表中设置元素的值</a:t>
            </a:r>
            <a:endParaRPr lang="zh-CN" altLang="en-US" sz="1400" dirty="0" smtClean="0"/>
          </a:p>
          <a:p>
            <a:r>
              <a:rPr lang="en-US" altLang="zh-CN" sz="1400" dirty="0" smtClean="0"/>
              <a:t>LTRIM key start stop                                     #</a:t>
            </a:r>
            <a:r>
              <a:rPr lang="zh-CN" altLang="en-US" sz="1400" dirty="0"/>
              <a:t>修剪列表的指定</a:t>
            </a:r>
            <a:r>
              <a:rPr lang="zh-CN" altLang="en-US" sz="1400" dirty="0" smtClean="0"/>
              <a:t>范围</a:t>
            </a:r>
            <a:endParaRPr lang="en-US" altLang="zh-CN" sz="1400" dirty="0" smtClean="0"/>
          </a:p>
          <a:p>
            <a:r>
              <a:rPr lang="en-US" altLang="zh-CN" sz="1400" dirty="0" smtClean="0"/>
              <a:t>RPOP key                                                     #</a:t>
            </a:r>
            <a:r>
              <a:rPr lang="zh-CN" altLang="en-US" sz="1400" dirty="0"/>
              <a:t>删除并获取列表中的最后一个元素</a:t>
            </a:r>
            <a:endParaRPr lang="en-US" altLang="zh-CN" sz="1400" dirty="0" smtClean="0"/>
          </a:p>
          <a:p>
            <a:r>
              <a:rPr lang="en-US" altLang="zh-CN" sz="1400" dirty="0" smtClean="0"/>
              <a:t>RPOPLPUSH source target                              #</a:t>
            </a:r>
            <a:r>
              <a:rPr lang="zh-CN" altLang="en-US" sz="1400" dirty="0"/>
              <a:t>删除列表中的最后一个元素，将其附加到另一个列表并</a:t>
            </a:r>
            <a:r>
              <a:rPr lang="zh-CN" altLang="en-US" sz="1400" dirty="0" smtClean="0"/>
              <a:t>返回</a:t>
            </a:r>
            <a:endParaRPr lang="en-US" altLang="zh-CN" sz="1400" dirty="0" smtClean="0"/>
          </a:p>
          <a:p>
            <a:r>
              <a:rPr lang="en-US" altLang="zh-CN" sz="1400" dirty="0" smtClean="0"/>
              <a:t>RPUSH key value1 [value2]                            #</a:t>
            </a:r>
            <a:r>
              <a:rPr lang="zh-CN" altLang="en-US" sz="1400" dirty="0"/>
              <a:t>将一个或多个值附加到</a:t>
            </a:r>
            <a:r>
              <a:rPr lang="zh-CN" altLang="en-US" sz="1400" dirty="0" smtClean="0"/>
              <a:t>列表</a:t>
            </a:r>
            <a:endParaRPr lang="en-US" altLang="zh-CN" sz="1400" dirty="0" smtClean="0"/>
          </a:p>
          <a:p>
            <a:r>
              <a:rPr lang="en-US" altLang="zh-CN" sz="1400" dirty="0" smtClean="0"/>
              <a:t>RPUSHX key value                                          #</a:t>
            </a:r>
            <a:r>
              <a:rPr lang="zh-CN" altLang="en-US" sz="1400" dirty="0"/>
              <a:t>仅当列表存在时才将值附加到列表</a:t>
            </a:r>
            <a:endParaRPr lang="zh-CN" altLang="en-US" sz="1400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107672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List</a:t>
            </a:r>
            <a:r>
              <a:rPr lang="zh-CN" altLang="en-US" dirty="0" smtClean="0"/>
              <a:t>应用场景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轻量级</a:t>
            </a:r>
            <a:r>
              <a:rPr lang="zh-CN" altLang="en-US" dirty="0" smtClean="0"/>
              <a:t>队列</a:t>
            </a:r>
            <a:endParaRPr lang="en-US" altLang="zh-CN" dirty="0" smtClean="0"/>
          </a:p>
          <a:p>
            <a:r>
              <a:rPr lang="zh-CN" altLang="en-US" dirty="0" smtClean="0"/>
              <a:t>一些需要获取最新数据的场景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06925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Hash(</a:t>
            </a:r>
            <a:r>
              <a:rPr lang="zh-CN" altLang="en-US" dirty="0"/>
              <a:t>散列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 smtClean="0"/>
              <a:t>Hash</a:t>
            </a:r>
            <a:r>
              <a:rPr lang="zh-CN" altLang="en-US" sz="2000" dirty="0" smtClean="0"/>
              <a:t>类型</a:t>
            </a:r>
            <a:r>
              <a:rPr lang="zh-CN" altLang="en-US" sz="2000" dirty="0"/>
              <a:t>很像一个关系型数据库的数据表</a:t>
            </a:r>
            <a:r>
              <a:rPr lang="zh-CN" altLang="en-US" sz="2000" dirty="0" smtClean="0"/>
              <a:t>，</a:t>
            </a:r>
            <a:r>
              <a:rPr lang="en-US" altLang="zh-CN" sz="2000" dirty="0"/>
              <a:t>H</a:t>
            </a:r>
            <a:r>
              <a:rPr lang="en-US" altLang="zh-CN" sz="2000" dirty="0" smtClean="0"/>
              <a:t>ash</a:t>
            </a:r>
            <a:r>
              <a:rPr lang="zh-CN" altLang="en-US" sz="2000" dirty="0" smtClean="0"/>
              <a:t>的</a:t>
            </a:r>
            <a:r>
              <a:rPr lang="en-US" altLang="zh-CN" sz="2000" dirty="0" smtClean="0"/>
              <a:t>Key</a:t>
            </a:r>
            <a:r>
              <a:rPr lang="zh-CN" altLang="en-US" sz="2000" dirty="0" smtClean="0"/>
              <a:t>是</a:t>
            </a:r>
            <a:r>
              <a:rPr lang="zh-CN" altLang="en-US" sz="2000" dirty="0"/>
              <a:t>一个唯一值，</a:t>
            </a:r>
            <a:r>
              <a:rPr lang="en-US" altLang="zh-CN" sz="2000" dirty="0" smtClean="0"/>
              <a:t>Value</a:t>
            </a:r>
            <a:r>
              <a:rPr lang="zh-CN" altLang="en-US" sz="2000" dirty="0" smtClean="0"/>
              <a:t>部分</a:t>
            </a:r>
            <a:r>
              <a:rPr lang="zh-CN" altLang="en-US" sz="2000" dirty="0"/>
              <a:t>是一个 </a:t>
            </a:r>
            <a:r>
              <a:rPr lang="en-US" altLang="zh-CN" sz="2000" dirty="0" err="1" smtClean="0"/>
              <a:t>HashMap</a:t>
            </a:r>
            <a:r>
              <a:rPr lang="zh-CN" altLang="en-US" sz="2000" dirty="0" smtClean="0"/>
              <a:t>的</a:t>
            </a:r>
            <a:r>
              <a:rPr lang="zh-CN" altLang="en-US" sz="2000" dirty="0"/>
              <a:t>结构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en-US" altLang="zh-CN" sz="2000" dirty="0" smtClean="0"/>
              <a:t>Hash</a:t>
            </a:r>
            <a:r>
              <a:rPr lang="zh-CN" altLang="en-US" sz="2000" dirty="0" smtClean="0"/>
              <a:t>类型存储</a:t>
            </a:r>
            <a:r>
              <a:rPr lang="zh-CN" altLang="en-US" sz="2000" dirty="0"/>
              <a:t>多个键值对之间的映射</a:t>
            </a:r>
            <a:r>
              <a:rPr lang="zh-CN" altLang="en-US" sz="2000" dirty="0" smtClean="0"/>
              <a:t>。每个键值对的值和</a:t>
            </a:r>
            <a:r>
              <a:rPr lang="en-US" altLang="zh-CN" sz="2000" dirty="0" smtClean="0"/>
              <a:t>String</a:t>
            </a:r>
            <a:r>
              <a:rPr lang="zh-CN" altLang="en-US" sz="2000" dirty="0" smtClean="0"/>
              <a:t>一样，可以</a:t>
            </a:r>
            <a:r>
              <a:rPr lang="zh-CN" altLang="en-US" sz="2000" dirty="0"/>
              <a:t>是字符串又可以是数字值，并且用户同样可以</a:t>
            </a:r>
            <a:r>
              <a:rPr lang="zh-CN" altLang="en-US" sz="2000" dirty="0" smtClean="0"/>
              <a:t>对</a:t>
            </a:r>
            <a:r>
              <a:rPr lang="en-US" altLang="zh-CN" sz="2000" dirty="0" smtClean="0"/>
              <a:t>Hash</a:t>
            </a:r>
            <a:r>
              <a:rPr lang="zh-CN" altLang="en-US" sz="2000" dirty="0" smtClean="0"/>
              <a:t>存储</a:t>
            </a:r>
            <a:r>
              <a:rPr lang="zh-CN" altLang="en-US" sz="2000" dirty="0"/>
              <a:t>的数字值执行自增操作或者自减</a:t>
            </a:r>
            <a:r>
              <a:rPr lang="zh-CN" altLang="en-US" sz="2000" dirty="0" smtClean="0"/>
              <a:t>操作。</a:t>
            </a:r>
            <a:endParaRPr lang="en-US" altLang="zh-CN" sz="2000" dirty="0" smtClean="0"/>
          </a:p>
          <a:p>
            <a:r>
              <a:rPr lang="en-US" altLang="zh-CN" sz="2000" dirty="0" smtClean="0"/>
              <a:t>Hash</a:t>
            </a:r>
            <a:r>
              <a:rPr lang="zh-CN" altLang="en-US" sz="2000" dirty="0" smtClean="0"/>
              <a:t>相对</a:t>
            </a:r>
            <a:r>
              <a:rPr lang="zh-CN" altLang="en-US" sz="2000" dirty="0"/>
              <a:t>于将对象的每个字段存成</a:t>
            </a:r>
            <a:r>
              <a:rPr lang="zh-CN" altLang="en-US" sz="2000" dirty="0" smtClean="0"/>
              <a:t>单个</a:t>
            </a:r>
            <a:r>
              <a:rPr lang="en-US" altLang="zh-CN" sz="2000" dirty="0"/>
              <a:t>S</a:t>
            </a:r>
            <a:r>
              <a:rPr lang="en-US" altLang="zh-CN" sz="2000" dirty="0" smtClean="0"/>
              <a:t>tring</a:t>
            </a:r>
            <a:r>
              <a:rPr lang="zh-CN" altLang="en-US" sz="2000" dirty="0" smtClean="0"/>
              <a:t>类型</a:t>
            </a:r>
            <a:r>
              <a:rPr lang="zh-CN" altLang="en-US" sz="2000" dirty="0"/>
              <a:t>。一个对象存储</a:t>
            </a:r>
            <a:r>
              <a:rPr lang="zh-CN" altLang="en-US" sz="2000" dirty="0" smtClean="0"/>
              <a:t>在</a:t>
            </a:r>
            <a:r>
              <a:rPr lang="en-US" altLang="zh-CN" sz="2000" dirty="0"/>
              <a:t>H</a:t>
            </a:r>
            <a:r>
              <a:rPr lang="en-US" altLang="zh-CN" sz="2000" dirty="0" smtClean="0"/>
              <a:t>ash</a:t>
            </a:r>
            <a:r>
              <a:rPr lang="zh-CN" altLang="en-US" sz="2000" dirty="0"/>
              <a:t>类型中会占用更少的内存，并且可以更方便的存取整个对象。</a:t>
            </a:r>
          </a:p>
          <a:p>
            <a:r>
              <a:rPr lang="en-US" altLang="zh-CN" sz="2000" dirty="0" smtClean="0"/>
              <a:t>Hash</a:t>
            </a:r>
            <a:r>
              <a:rPr lang="zh-CN" altLang="en-US" sz="2000" dirty="0" smtClean="0"/>
              <a:t>相对</a:t>
            </a:r>
            <a:r>
              <a:rPr lang="zh-CN" altLang="en-US" sz="2000" dirty="0"/>
              <a:t>于采用</a:t>
            </a:r>
            <a:r>
              <a:rPr lang="en-US" altLang="zh-CN" sz="2000" dirty="0"/>
              <a:t>String</a:t>
            </a:r>
            <a:r>
              <a:rPr lang="zh-CN" altLang="en-US" sz="2000" dirty="0"/>
              <a:t>类型的存储对象，需要将对象进行序列化。增加了序列化</a:t>
            </a:r>
            <a:r>
              <a:rPr lang="en-US" altLang="zh-CN" sz="2000" dirty="0"/>
              <a:t>/</a:t>
            </a:r>
            <a:r>
              <a:rPr lang="zh-CN" altLang="en-US" sz="2000" dirty="0"/>
              <a:t>反序列化的开销，并且在需要修改其中一项信息时，需要把整个对象取回。而</a:t>
            </a:r>
            <a:r>
              <a:rPr lang="en-US" altLang="zh-CN" sz="2000" dirty="0" err="1"/>
              <a:t>Redis</a:t>
            </a:r>
            <a:r>
              <a:rPr lang="zh-CN" altLang="en-US" sz="2000" dirty="0"/>
              <a:t>的</a:t>
            </a:r>
            <a:r>
              <a:rPr lang="en-US" altLang="zh-CN" sz="2000" dirty="0"/>
              <a:t>Hash</a:t>
            </a:r>
            <a:r>
              <a:rPr lang="zh-CN" altLang="en-US" sz="2000" dirty="0"/>
              <a:t>提供了直接存取这个</a:t>
            </a:r>
            <a:r>
              <a:rPr lang="en-US" altLang="zh-CN" sz="2000" dirty="0"/>
              <a:t>Map</a:t>
            </a:r>
            <a:r>
              <a:rPr lang="zh-CN" altLang="en-US" sz="2000" dirty="0"/>
              <a:t>成员的接口</a:t>
            </a:r>
            <a:r>
              <a:rPr lang="zh-CN" altLang="en-US" sz="2000" dirty="0" smtClean="0"/>
              <a:t>。</a:t>
            </a:r>
            <a:r>
              <a:rPr lang="zh-CN" altLang="en-US" sz="2000" dirty="0"/>
              <a:t/>
            </a:r>
            <a:br>
              <a:rPr lang="zh-CN" altLang="en-US" sz="2000" dirty="0"/>
            </a:br>
            <a:r>
              <a:rPr lang="zh-CN" altLang="en-US" sz="2000" dirty="0"/>
              <a:t>　　</a:t>
            </a:r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zh-CN" altLang="en-US" sz="1600" dirty="0"/>
              <a:t>　　</a:t>
            </a:r>
          </a:p>
        </p:txBody>
      </p:sp>
    </p:spTree>
    <p:extLst>
      <p:ext uri="{BB962C8B-B14F-4D97-AF65-F5344CB8AC3E}">
        <p14:creationId xmlns:p14="http://schemas.microsoft.com/office/powerpoint/2010/main" val="18454347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Hash</a:t>
            </a:r>
            <a:r>
              <a:rPr lang="zh-CN" altLang="en-US" dirty="0" smtClean="0"/>
              <a:t>类型相关命令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400" dirty="0" smtClean="0"/>
              <a:t>HDEL key field1 [field2]                             #</a:t>
            </a:r>
            <a:r>
              <a:rPr lang="zh-CN" altLang="en-US" sz="1400" dirty="0" smtClean="0"/>
              <a:t>删除一个或多个哈希字段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 smtClean="0"/>
              <a:t>HEXISTS key field                                     #</a:t>
            </a:r>
            <a:r>
              <a:rPr lang="zh-CN" altLang="en-US" sz="1400" dirty="0" smtClean="0"/>
              <a:t>判断是否存在哈希字段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 smtClean="0"/>
              <a:t>HGET key field                                          #</a:t>
            </a:r>
            <a:r>
              <a:rPr lang="zh-CN" altLang="en-US" sz="1400" dirty="0" smtClean="0"/>
              <a:t>获取存储在指定键的哈希字段的值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 smtClean="0"/>
              <a:t>HGETALL key                                            #</a:t>
            </a:r>
            <a:r>
              <a:rPr lang="zh-CN" altLang="en-US" sz="1400" dirty="0" smtClean="0"/>
              <a:t>获取存储在指定键的哈希中的所有字段和值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 smtClean="0"/>
              <a:t>HINCRBY key field increment                      #</a:t>
            </a:r>
            <a:r>
              <a:rPr lang="zh-CN" altLang="en-US" sz="1400" dirty="0" smtClean="0"/>
              <a:t>将哈希字段的整数值按给定数字增加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 smtClean="0"/>
              <a:t>HINCRBYFLOAT </a:t>
            </a:r>
            <a:r>
              <a:rPr lang="en-US" altLang="zh-CN" sz="1400" dirty="0"/>
              <a:t>key field increment </a:t>
            </a:r>
            <a:r>
              <a:rPr lang="en-US" altLang="zh-CN" sz="1400" dirty="0" smtClean="0"/>
              <a:t>            #</a:t>
            </a:r>
            <a:r>
              <a:rPr lang="zh-CN" altLang="en-US" sz="1400" dirty="0"/>
              <a:t>将哈希字段</a:t>
            </a:r>
            <a:r>
              <a:rPr lang="zh-CN" altLang="en-US" sz="1400" dirty="0" smtClean="0"/>
              <a:t>的</a:t>
            </a:r>
            <a:r>
              <a:rPr lang="zh-CN" altLang="en-US" sz="1400" dirty="0"/>
              <a:t>浮点</a:t>
            </a:r>
            <a:r>
              <a:rPr lang="zh-CN" altLang="en-US" sz="1400" dirty="0" smtClean="0"/>
              <a:t>值</a:t>
            </a:r>
            <a:r>
              <a:rPr lang="zh-CN" altLang="en-US" sz="1400" dirty="0"/>
              <a:t>按给定数字增加</a:t>
            </a:r>
          </a:p>
          <a:p>
            <a:pPr marL="0" indent="0">
              <a:buNone/>
            </a:pPr>
            <a:r>
              <a:rPr lang="en-US" altLang="zh-CN" sz="1400" dirty="0" smtClean="0"/>
              <a:t>HKEYS key                                                #</a:t>
            </a:r>
            <a:r>
              <a:rPr lang="zh-CN" altLang="en-US" sz="1400" dirty="0" smtClean="0"/>
              <a:t>获取</a:t>
            </a:r>
            <a:r>
              <a:rPr lang="zh-CN" altLang="en-US" sz="1400" dirty="0" smtClean="0"/>
              <a:t>哈希中的所有字段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 smtClean="0"/>
              <a:t>HLEN key                                                  #</a:t>
            </a:r>
            <a:r>
              <a:rPr lang="zh-CN" altLang="en-US" sz="1400" dirty="0" smtClean="0"/>
              <a:t>获取</a:t>
            </a:r>
            <a:r>
              <a:rPr lang="zh-CN" altLang="en-US" sz="1400" dirty="0" smtClean="0"/>
              <a:t>哈希中的字段数量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 smtClean="0"/>
              <a:t>HMGET key field1 [field1]                           #</a:t>
            </a:r>
            <a:r>
              <a:rPr lang="zh-CN" altLang="en-US" sz="1400" dirty="0" smtClean="0"/>
              <a:t>获取所有给定哈希字段的值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 smtClean="0"/>
              <a:t>HMSET key field1 value1 [field2 value2]        #</a:t>
            </a:r>
            <a:r>
              <a:rPr lang="zh-CN" altLang="en-US" sz="1400" dirty="0" smtClean="0"/>
              <a:t>为多个哈希字段分别设置它们的值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 smtClean="0"/>
              <a:t>HSET </a:t>
            </a:r>
            <a:r>
              <a:rPr lang="en-US" altLang="zh-CN" sz="1400" dirty="0" smtClean="0"/>
              <a:t>key </a:t>
            </a:r>
            <a:r>
              <a:rPr lang="en-US" altLang="zh-CN" sz="1400" dirty="0" smtClean="0"/>
              <a:t>field value                                   #</a:t>
            </a:r>
            <a:r>
              <a:rPr lang="zh-CN" altLang="en-US" sz="1400" dirty="0" smtClean="0"/>
              <a:t>设置哈希字段的字符串值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 smtClean="0"/>
              <a:t>HSETNX key field value                                #</a:t>
            </a:r>
            <a:r>
              <a:rPr lang="zh-CN" altLang="en-US" sz="1400" dirty="0"/>
              <a:t>仅当字段不存在时，才设置散列字段的</a:t>
            </a:r>
            <a:r>
              <a:rPr lang="zh-CN" altLang="en-US" sz="1400" dirty="0" smtClean="0"/>
              <a:t>值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 smtClean="0"/>
              <a:t>HVALS key                                                 #</a:t>
            </a:r>
            <a:r>
              <a:rPr lang="zh-CN" altLang="en-US" sz="1400" dirty="0"/>
              <a:t>获取哈希中的所有值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679965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Hash</a:t>
            </a:r>
            <a:r>
              <a:rPr lang="zh-CN" altLang="en-US" dirty="0" smtClean="0"/>
              <a:t>应用场景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76917" y="2017713"/>
            <a:ext cx="10363200" cy="2940653"/>
          </a:xfrm>
        </p:spPr>
        <p:txBody>
          <a:bodyPr/>
          <a:lstStyle/>
          <a:p>
            <a:r>
              <a:rPr lang="zh-CN" altLang="en-US" dirty="0" smtClean="0"/>
              <a:t>统计计数</a:t>
            </a:r>
            <a:endParaRPr lang="en-US" altLang="zh-CN" dirty="0"/>
          </a:p>
          <a:p>
            <a:r>
              <a:rPr lang="zh-CN" altLang="en-US" dirty="0" smtClean="0"/>
              <a:t>对象存储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26885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Set(</a:t>
            </a:r>
            <a:r>
              <a:rPr lang="zh-CN" altLang="en-US" dirty="0" smtClean="0"/>
              <a:t>集合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 smtClean="0"/>
              <a:t>Set </a:t>
            </a:r>
            <a:r>
              <a:rPr lang="zh-CN" altLang="en-US" sz="2000" dirty="0"/>
              <a:t>数据类型是一个集合（没有排序，不重复），可以</a:t>
            </a:r>
            <a:r>
              <a:rPr lang="zh-CN" altLang="en-US" sz="2000" dirty="0" smtClean="0"/>
              <a:t>对</a:t>
            </a:r>
            <a:r>
              <a:rPr lang="en-US" altLang="zh-CN" sz="2000" dirty="0" smtClean="0"/>
              <a:t>Set</a:t>
            </a:r>
            <a:r>
              <a:rPr lang="zh-CN" altLang="en-US" sz="2000" dirty="0" smtClean="0"/>
              <a:t>类型</a:t>
            </a:r>
            <a:r>
              <a:rPr lang="zh-CN" altLang="en-US" sz="2000" dirty="0"/>
              <a:t>的数据进行添加、删除、判断是否存在等操作（时间复杂度是 </a:t>
            </a:r>
            <a:r>
              <a:rPr lang="en-US" altLang="zh-CN" sz="2000" dirty="0"/>
              <a:t>O(1) </a:t>
            </a:r>
            <a:r>
              <a:rPr lang="zh-CN" altLang="en-US" sz="2000" dirty="0"/>
              <a:t>） </a:t>
            </a:r>
            <a:endParaRPr lang="en-US" altLang="zh-CN" sz="2000" dirty="0"/>
          </a:p>
          <a:p>
            <a:r>
              <a:rPr lang="en-US" altLang="zh-CN" sz="2000" dirty="0" smtClean="0"/>
              <a:t>Set </a:t>
            </a:r>
            <a:r>
              <a:rPr lang="zh-CN" altLang="en-US" sz="2000" dirty="0"/>
              <a:t>集合不允许数据重复，如果添加的数据</a:t>
            </a:r>
            <a:r>
              <a:rPr lang="zh-CN" altLang="en-US" sz="2000" dirty="0" smtClean="0"/>
              <a:t>在</a:t>
            </a:r>
            <a:r>
              <a:rPr lang="en-US" altLang="zh-CN" sz="2000" dirty="0" smtClean="0"/>
              <a:t>Set</a:t>
            </a:r>
            <a:r>
              <a:rPr lang="zh-CN" altLang="en-US" sz="2000" dirty="0" smtClean="0"/>
              <a:t>中</a:t>
            </a:r>
            <a:r>
              <a:rPr lang="zh-CN" altLang="en-US" sz="2000" dirty="0"/>
              <a:t>已经</a:t>
            </a:r>
            <a:r>
              <a:rPr lang="zh-CN" altLang="en-US" sz="2000" dirty="0" smtClean="0"/>
              <a:t>存在，将</a:t>
            </a:r>
            <a:r>
              <a:rPr lang="zh-CN" altLang="en-US" sz="2000" dirty="0"/>
              <a:t>只保留一份。 </a:t>
            </a:r>
            <a:endParaRPr lang="en-US" altLang="zh-CN" sz="2000" dirty="0"/>
          </a:p>
          <a:p>
            <a:r>
              <a:rPr lang="en-US" altLang="zh-CN" sz="2000" dirty="0" smtClean="0"/>
              <a:t>Set </a:t>
            </a:r>
            <a:r>
              <a:rPr lang="zh-CN" altLang="en-US" sz="2000" dirty="0"/>
              <a:t>类型提供了多</a:t>
            </a:r>
            <a:r>
              <a:rPr lang="zh-CN" altLang="en-US" sz="2000" dirty="0" smtClean="0"/>
              <a:t>个</a:t>
            </a:r>
            <a:r>
              <a:rPr lang="en-US" altLang="zh-CN" sz="2000" dirty="0" smtClean="0"/>
              <a:t>Set</a:t>
            </a:r>
            <a:r>
              <a:rPr lang="zh-CN" altLang="en-US" sz="2000" dirty="0" smtClean="0"/>
              <a:t>之间</a:t>
            </a:r>
            <a:r>
              <a:rPr lang="zh-CN" altLang="en-US" sz="2000" dirty="0"/>
              <a:t>的聚合运算，如求交集、并集、补集，这些操作</a:t>
            </a:r>
            <a:r>
              <a:rPr lang="zh-CN" altLang="en-US" sz="2000" dirty="0" smtClean="0"/>
              <a:t>在</a:t>
            </a:r>
            <a:r>
              <a:rPr lang="en-US" altLang="zh-CN" sz="2000" dirty="0" err="1" smtClean="0"/>
              <a:t>Redis</a:t>
            </a:r>
            <a:r>
              <a:rPr lang="zh-CN" altLang="en-US" sz="2000" dirty="0" smtClean="0"/>
              <a:t>内部</a:t>
            </a:r>
            <a:r>
              <a:rPr lang="zh-CN" altLang="en-US" sz="2000" dirty="0"/>
              <a:t>完成，效率很高。</a:t>
            </a:r>
          </a:p>
        </p:txBody>
      </p:sp>
    </p:spTree>
    <p:extLst>
      <p:ext uri="{BB962C8B-B14F-4D97-AF65-F5344CB8AC3E}">
        <p14:creationId xmlns:p14="http://schemas.microsoft.com/office/powerpoint/2010/main" val="23674504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Set</a:t>
            </a:r>
            <a:r>
              <a:rPr lang="zh-CN" altLang="en-US" dirty="0" smtClean="0"/>
              <a:t>类型相关命令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400" dirty="0"/>
              <a:t>SADD key </a:t>
            </a:r>
            <a:r>
              <a:rPr lang="en-US" altLang="zh-CN" sz="1400" dirty="0" smtClean="0"/>
              <a:t>member1 </a:t>
            </a:r>
            <a:r>
              <a:rPr lang="en-US" altLang="zh-CN" sz="1400" dirty="0"/>
              <a:t>[</a:t>
            </a:r>
            <a:r>
              <a:rPr lang="en-US" altLang="zh-CN" sz="1400" dirty="0" smtClean="0"/>
              <a:t>member2]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将一个或多</a:t>
            </a:r>
            <a:r>
              <a:rPr lang="zh-CN" altLang="en-US" sz="1400" dirty="0" smtClean="0"/>
              <a:t>个元素</a:t>
            </a:r>
            <a:r>
              <a:rPr lang="zh-CN" altLang="en-US" sz="1400" dirty="0"/>
              <a:t>加入到集合</a:t>
            </a:r>
            <a:r>
              <a:rPr lang="en-US" altLang="zh-CN" sz="1400" dirty="0"/>
              <a:t>key</a:t>
            </a:r>
            <a:r>
              <a:rPr lang="zh-CN" altLang="en-US" sz="1400" dirty="0"/>
              <a:t>当中，已经存在于集合</a:t>
            </a:r>
            <a:r>
              <a:rPr lang="zh-CN" altLang="en-US" sz="1400" dirty="0" smtClean="0"/>
              <a:t>的元素</a:t>
            </a:r>
            <a:r>
              <a:rPr lang="zh-CN" altLang="en-US" sz="1400" dirty="0"/>
              <a:t>将被</a:t>
            </a:r>
            <a:r>
              <a:rPr lang="zh-CN" altLang="en-US" sz="1400" dirty="0" smtClean="0"/>
              <a:t>忽略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/>
              <a:t>SREM key </a:t>
            </a:r>
            <a:r>
              <a:rPr lang="en-US" altLang="zh-CN" sz="1400" dirty="0" smtClean="0"/>
              <a:t>member1 </a:t>
            </a:r>
            <a:r>
              <a:rPr lang="en-US" altLang="zh-CN" sz="1400" dirty="0"/>
              <a:t>[</a:t>
            </a:r>
            <a:r>
              <a:rPr lang="en-US" altLang="zh-CN" sz="1400" dirty="0" smtClean="0"/>
              <a:t>member2]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移除集合</a:t>
            </a:r>
            <a:r>
              <a:rPr lang="en-US" altLang="zh-CN" sz="1400" dirty="0"/>
              <a:t>key</a:t>
            </a:r>
            <a:r>
              <a:rPr lang="zh-CN" altLang="en-US" sz="1400" dirty="0"/>
              <a:t>中的一个或多</a:t>
            </a:r>
            <a:r>
              <a:rPr lang="zh-CN" altLang="en-US" sz="1400" dirty="0" smtClean="0"/>
              <a:t>个元素</a:t>
            </a:r>
            <a:r>
              <a:rPr lang="zh-CN" altLang="en-US" sz="1400" dirty="0"/>
              <a:t>，不存在</a:t>
            </a:r>
            <a:r>
              <a:rPr lang="zh-CN" altLang="en-US" sz="1400" dirty="0" smtClean="0"/>
              <a:t>的元素</a:t>
            </a:r>
            <a:r>
              <a:rPr lang="zh-CN" altLang="en-US" sz="1400" dirty="0"/>
              <a:t>会被</a:t>
            </a:r>
            <a:r>
              <a:rPr lang="zh-CN" altLang="en-US" sz="1400" dirty="0" smtClean="0"/>
              <a:t>忽略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/>
              <a:t>SMEMBERS </a:t>
            </a:r>
            <a:r>
              <a:rPr lang="en-US" altLang="zh-CN" sz="1400" dirty="0" smtClean="0"/>
              <a:t>key                    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返回集合</a:t>
            </a:r>
            <a:r>
              <a:rPr lang="en-US" altLang="zh-CN" sz="1400" dirty="0"/>
              <a:t>key</a:t>
            </a:r>
            <a:r>
              <a:rPr lang="zh-CN" altLang="en-US" sz="1400" dirty="0"/>
              <a:t>中的所有</a:t>
            </a:r>
            <a:r>
              <a:rPr lang="zh-CN" altLang="en-US" sz="1400" dirty="0" smtClean="0"/>
              <a:t>成员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/>
              <a:t>SISMEMBER key </a:t>
            </a:r>
            <a:r>
              <a:rPr lang="en-US" altLang="zh-CN" sz="1400" dirty="0" smtClean="0"/>
              <a:t>member      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 smtClean="0"/>
              <a:t>判断元素</a:t>
            </a:r>
            <a:r>
              <a:rPr lang="zh-CN" altLang="en-US" sz="1400" dirty="0"/>
              <a:t>是否是集合</a:t>
            </a:r>
            <a:r>
              <a:rPr lang="en-US" altLang="zh-CN" sz="1400" dirty="0"/>
              <a:t>key</a:t>
            </a:r>
            <a:r>
              <a:rPr lang="zh-CN" altLang="en-US" sz="1400" dirty="0"/>
              <a:t>的</a:t>
            </a:r>
            <a:r>
              <a:rPr lang="zh-CN" altLang="en-US" sz="1400" dirty="0" smtClean="0"/>
              <a:t>成员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/>
              <a:t>SCARD </a:t>
            </a:r>
            <a:r>
              <a:rPr lang="en-US" altLang="zh-CN" sz="1400" dirty="0" smtClean="0"/>
              <a:t>key                          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返回集合</a:t>
            </a:r>
            <a:r>
              <a:rPr lang="en-US" altLang="zh-CN" sz="1400" dirty="0"/>
              <a:t>key</a:t>
            </a:r>
            <a:r>
              <a:rPr lang="zh-CN" altLang="en-US" sz="1400" dirty="0"/>
              <a:t>的基数</a:t>
            </a:r>
            <a:r>
              <a:rPr lang="en-US" altLang="zh-CN" sz="1400" dirty="0"/>
              <a:t>(</a:t>
            </a:r>
            <a:r>
              <a:rPr lang="zh-CN" altLang="en-US" sz="1400" dirty="0"/>
              <a:t>集合中元素的数量</a:t>
            </a:r>
            <a:r>
              <a:rPr lang="en-US" altLang="zh-CN" sz="1400" dirty="0" smtClean="0"/>
              <a:t>)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/>
              <a:t>SMOVE source </a:t>
            </a:r>
            <a:r>
              <a:rPr lang="en-US" altLang="zh-CN" sz="1400" dirty="0" smtClean="0"/>
              <a:t>target member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 smtClean="0"/>
              <a:t>将元素</a:t>
            </a:r>
            <a:r>
              <a:rPr lang="zh-CN" altLang="en-US" sz="1400" dirty="0"/>
              <a:t>从</a:t>
            </a:r>
            <a:r>
              <a:rPr lang="en-US" altLang="zh-CN" sz="1400" dirty="0"/>
              <a:t>source</a:t>
            </a:r>
            <a:r>
              <a:rPr lang="zh-CN" altLang="en-US" sz="1400" dirty="0"/>
              <a:t>集合移动</a:t>
            </a:r>
            <a:r>
              <a:rPr lang="zh-CN" altLang="en-US" sz="1400" dirty="0" smtClean="0"/>
              <a:t>到</a:t>
            </a:r>
            <a:r>
              <a:rPr lang="en-US" altLang="zh-CN" sz="1400" dirty="0" smtClean="0"/>
              <a:t>target</a:t>
            </a:r>
            <a:r>
              <a:rPr lang="zh-CN" altLang="en-US" sz="1400" dirty="0" smtClean="0"/>
              <a:t>集合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/>
              <a:t>SPOP </a:t>
            </a:r>
            <a:r>
              <a:rPr lang="en-US" altLang="zh-CN" sz="1400" dirty="0" smtClean="0"/>
              <a:t>key                             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移除并返回集合中的一个随机元素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/>
              <a:t>SRANDMEMBER </a:t>
            </a:r>
            <a:r>
              <a:rPr lang="en-US" altLang="zh-CN" sz="1400" dirty="0" smtClean="0"/>
              <a:t>key              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返回集合中的一个随机</a:t>
            </a:r>
            <a:r>
              <a:rPr lang="zh-CN" altLang="en-US" sz="1400" dirty="0" smtClean="0"/>
              <a:t>元素</a:t>
            </a:r>
            <a:r>
              <a:rPr lang="en-US" altLang="zh-CN" sz="1400" dirty="0" smtClean="0"/>
              <a:t>(</a:t>
            </a:r>
            <a:r>
              <a:rPr lang="zh-CN" altLang="en-US" sz="1400" dirty="0" smtClean="0"/>
              <a:t>不会从集合中移除</a:t>
            </a:r>
            <a:r>
              <a:rPr lang="en-US" altLang="zh-CN" sz="1400" dirty="0" smtClean="0"/>
              <a:t>)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/>
              <a:t>SINTER </a:t>
            </a:r>
            <a:r>
              <a:rPr lang="en-US" altLang="zh-CN" sz="1400" dirty="0" smtClean="0"/>
              <a:t>key1 </a:t>
            </a:r>
            <a:r>
              <a:rPr lang="en-US" altLang="zh-CN" sz="1400" dirty="0"/>
              <a:t>[</a:t>
            </a:r>
            <a:r>
              <a:rPr lang="en-US" altLang="zh-CN" sz="1400" dirty="0" smtClean="0"/>
              <a:t>key2]              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 smtClean="0"/>
              <a:t>返回多个集合的交集成员列表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/>
              <a:t>SINTERSTORE </a:t>
            </a:r>
            <a:r>
              <a:rPr lang="en-US" altLang="zh-CN" sz="1400" dirty="0" smtClean="0"/>
              <a:t>target key1 </a:t>
            </a:r>
            <a:r>
              <a:rPr lang="en-US" altLang="zh-CN" sz="1400" dirty="0"/>
              <a:t>[</a:t>
            </a:r>
            <a:r>
              <a:rPr lang="en-US" altLang="zh-CN" sz="1400" dirty="0" smtClean="0"/>
              <a:t>key2]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返回多个集合的交集成员</a:t>
            </a:r>
            <a:r>
              <a:rPr lang="zh-CN" altLang="en-US" sz="1400" dirty="0" smtClean="0"/>
              <a:t>列表，并保存到</a:t>
            </a:r>
            <a:r>
              <a:rPr lang="en-US" altLang="zh-CN" sz="1400" dirty="0" smtClean="0"/>
              <a:t>target</a:t>
            </a:r>
            <a:r>
              <a:rPr lang="zh-CN" altLang="en-US" sz="1400" dirty="0" smtClean="0"/>
              <a:t>集合中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SUNION </a:t>
            </a:r>
            <a:r>
              <a:rPr lang="en-US" altLang="zh-CN" sz="1400" dirty="0" smtClean="0"/>
              <a:t>key1 </a:t>
            </a:r>
            <a:r>
              <a:rPr lang="en-US" altLang="zh-CN" sz="1400" dirty="0"/>
              <a:t>[</a:t>
            </a:r>
            <a:r>
              <a:rPr lang="en-US" altLang="zh-CN" sz="1400" dirty="0" smtClean="0"/>
              <a:t>key2]             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返回多个集合</a:t>
            </a:r>
            <a:r>
              <a:rPr lang="zh-CN" altLang="en-US" sz="1400" dirty="0" smtClean="0"/>
              <a:t>的</a:t>
            </a:r>
            <a:r>
              <a:rPr lang="zh-CN" altLang="en-US" sz="1400" dirty="0"/>
              <a:t>并</a:t>
            </a:r>
            <a:r>
              <a:rPr lang="zh-CN" altLang="en-US" sz="1400" dirty="0" smtClean="0"/>
              <a:t>集成</a:t>
            </a:r>
            <a:r>
              <a:rPr lang="zh-CN" altLang="en-US" sz="1400" dirty="0"/>
              <a:t>员</a:t>
            </a:r>
            <a:r>
              <a:rPr lang="zh-CN" altLang="en-US" sz="1400" dirty="0" smtClean="0"/>
              <a:t>列表（去重）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SUNIONSTORE </a:t>
            </a:r>
            <a:r>
              <a:rPr lang="en-US" altLang="zh-CN" sz="1400" dirty="0" smtClean="0"/>
              <a:t>target key1 </a:t>
            </a:r>
            <a:r>
              <a:rPr lang="en-US" altLang="zh-CN" sz="1400" dirty="0"/>
              <a:t>[</a:t>
            </a:r>
            <a:r>
              <a:rPr lang="en-US" altLang="zh-CN" sz="1400" dirty="0" smtClean="0"/>
              <a:t>key2]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返回多个集合</a:t>
            </a:r>
            <a:r>
              <a:rPr lang="zh-CN" altLang="en-US" sz="1400" dirty="0" smtClean="0"/>
              <a:t>的并集成</a:t>
            </a:r>
            <a:r>
              <a:rPr lang="zh-CN" altLang="en-US" sz="1400" dirty="0"/>
              <a:t>员</a:t>
            </a:r>
            <a:r>
              <a:rPr lang="zh-CN" altLang="en-US" sz="1400" dirty="0" smtClean="0"/>
              <a:t>列表（去重），</a:t>
            </a:r>
            <a:r>
              <a:rPr lang="zh-CN" altLang="en-US" sz="1400" dirty="0"/>
              <a:t>并保存到</a:t>
            </a:r>
            <a:r>
              <a:rPr lang="en-US" altLang="zh-CN" sz="1400" dirty="0"/>
              <a:t>target</a:t>
            </a:r>
            <a:r>
              <a:rPr lang="zh-CN" altLang="en-US" sz="1400" dirty="0"/>
              <a:t>集合</a:t>
            </a:r>
            <a:r>
              <a:rPr lang="zh-CN" altLang="en-US" sz="1400" dirty="0" smtClean="0"/>
              <a:t>中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/>
              <a:t>SDIFF </a:t>
            </a:r>
            <a:r>
              <a:rPr lang="en-US" altLang="zh-CN" sz="1400" dirty="0" smtClean="0"/>
              <a:t>key1 </a:t>
            </a:r>
            <a:r>
              <a:rPr lang="en-US" altLang="zh-CN" sz="1400" dirty="0"/>
              <a:t>[</a:t>
            </a:r>
            <a:r>
              <a:rPr lang="en-US" altLang="zh-CN" sz="1400" dirty="0" smtClean="0"/>
              <a:t>key2]                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返回集合与所有给定集合的差集成员</a:t>
            </a:r>
            <a:r>
              <a:rPr lang="zh-CN" altLang="en-US" sz="1400" dirty="0" smtClean="0"/>
              <a:t>列表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 smtClean="0"/>
              <a:t>SDIFFSTORE target key1 </a:t>
            </a:r>
            <a:r>
              <a:rPr lang="en-US" altLang="zh-CN" sz="1400" dirty="0"/>
              <a:t>[</a:t>
            </a:r>
            <a:r>
              <a:rPr lang="en-US" altLang="zh-CN" sz="1400" dirty="0" smtClean="0"/>
              <a:t>key2]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 smtClean="0"/>
              <a:t>返回集合与所有给定集合的差集成员列表，并</a:t>
            </a:r>
            <a:r>
              <a:rPr lang="zh-CN" altLang="en-US" sz="1400" dirty="0"/>
              <a:t>保存到</a:t>
            </a:r>
            <a:r>
              <a:rPr lang="en-US" altLang="zh-CN" sz="1400" dirty="0"/>
              <a:t>target</a:t>
            </a:r>
            <a:r>
              <a:rPr lang="zh-CN" altLang="en-US" sz="1400" dirty="0"/>
              <a:t>集合</a:t>
            </a:r>
            <a:r>
              <a:rPr lang="zh-CN" altLang="en-US" sz="1400" dirty="0" smtClean="0"/>
              <a:t>中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302990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Set</a:t>
            </a:r>
            <a:r>
              <a:rPr lang="zh-CN" altLang="en-US" dirty="0" smtClean="0"/>
              <a:t>应用场景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Unique</a:t>
            </a:r>
            <a:r>
              <a:rPr lang="zh-CN" altLang="en-US" dirty="0" smtClean="0"/>
              <a:t>排重操作</a:t>
            </a:r>
            <a:endParaRPr lang="en-US" altLang="zh-CN" dirty="0" smtClean="0"/>
          </a:p>
          <a:p>
            <a:r>
              <a:rPr lang="zh-CN" altLang="en-US" dirty="0" smtClean="0"/>
              <a:t>好友列表</a:t>
            </a:r>
            <a:endParaRPr lang="en-US" altLang="zh-CN" dirty="0" smtClean="0"/>
          </a:p>
          <a:p>
            <a:r>
              <a:rPr lang="zh-CN" altLang="en-US" dirty="0" smtClean="0"/>
              <a:t>获取共同好友</a:t>
            </a:r>
            <a:endParaRPr lang="zh-CN" altLang="en-US" dirty="0"/>
          </a:p>
          <a:p>
            <a:pPr marL="0" indent="0">
              <a:buNone/>
            </a:pP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534483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ZSet</a:t>
            </a:r>
            <a:r>
              <a:rPr lang="en-US" altLang="zh-CN" dirty="0" smtClean="0"/>
              <a:t>(</a:t>
            </a:r>
            <a:r>
              <a:rPr lang="zh-CN" altLang="en-US" dirty="0" smtClean="0"/>
              <a:t>有序集合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 err="1" smtClean="0"/>
              <a:t>ZSet</a:t>
            </a:r>
            <a:r>
              <a:rPr lang="zh-CN" altLang="en-US" sz="2000" dirty="0" smtClean="0"/>
              <a:t>在</a:t>
            </a:r>
            <a:r>
              <a:rPr lang="en-US" altLang="zh-CN" sz="2000" dirty="0"/>
              <a:t>S</a:t>
            </a:r>
            <a:r>
              <a:rPr lang="en-US" altLang="zh-CN" sz="2000" dirty="0" smtClean="0"/>
              <a:t>et</a:t>
            </a:r>
            <a:r>
              <a:rPr lang="zh-CN" altLang="en-US" sz="2000" dirty="0" smtClean="0"/>
              <a:t>的</a:t>
            </a:r>
            <a:r>
              <a:rPr lang="zh-CN" altLang="en-US" sz="2000" dirty="0"/>
              <a:t>基础上给集合中每个元素关联了一个分数，往有序集合中插入数据时会自动根据这个分数排序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en-US" altLang="zh-CN" sz="2000" dirty="0" err="1" smtClean="0"/>
              <a:t>ZSet</a:t>
            </a:r>
            <a:r>
              <a:rPr lang="zh-CN" altLang="en-US" sz="2000" dirty="0" smtClean="0"/>
              <a:t>的</a:t>
            </a:r>
            <a:r>
              <a:rPr lang="zh-CN" altLang="en-US" sz="2000" dirty="0"/>
              <a:t>存储</a:t>
            </a:r>
            <a:r>
              <a:rPr lang="zh-CN" altLang="en-US" sz="2000" dirty="0" smtClean="0"/>
              <a:t>结构有点类似</a:t>
            </a:r>
            <a:r>
              <a:rPr lang="en-US" altLang="zh-CN" sz="2000" dirty="0" smtClean="0"/>
              <a:t>Hash</a:t>
            </a:r>
            <a:r>
              <a:rPr lang="zh-CN" altLang="en-US" sz="2000" dirty="0" smtClean="0"/>
              <a:t>，</a:t>
            </a:r>
            <a:r>
              <a:rPr lang="zh-CN" altLang="en-US" sz="2000" dirty="0"/>
              <a:t>都用于存储键值对：有序集合的键被称为成员（</a:t>
            </a:r>
            <a:r>
              <a:rPr lang="en-US" altLang="zh-CN" sz="2000" dirty="0"/>
              <a:t>member</a:t>
            </a:r>
            <a:r>
              <a:rPr lang="zh-CN" altLang="en-US" sz="2000" dirty="0"/>
              <a:t>），每个成员都是独一无二的；而有序集合的值则被称为分值（</a:t>
            </a:r>
            <a:r>
              <a:rPr lang="en-US" altLang="zh-CN" sz="2000" dirty="0"/>
              <a:t>score</a:t>
            </a:r>
            <a:r>
              <a:rPr lang="zh-CN" altLang="en-US" sz="2000" dirty="0"/>
              <a:t>），分值必须为浮点数。有序集合是</a:t>
            </a:r>
            <a:r>
              <a:rPr lang="en-US" altLang="zh-CN" sz="2000" dirty="0" err="1"/>
              <a:t>Redis</a:t>
            </a:r>
            <a:r>
              <a:rPr lang="zh-CN" altLang="en-US" sz="2000" dirty="0"/>
              <a:t>里面唯一一个既可以根据成员访问元素（这一点</a:t>
            </a:r>
            <a:r>
              <a:rPr lang="zh-CN" altLang="en-US" sz="2000" dirty="0" smtClean="0"/>
              <a:t>和</a:t>
            </a:r>
            <a:r>
              <a:rPr lang="en-US" altLang="zh-CN" sz="2000" dirty="0" smtClean="0"/>
              <a:t>Hash</a:t>
            </a:r>
            <a:r>
              <a:rPr lang="zh-CN" altLang="en-US" sz="2000" dirty="0" smtClean="0"/>
              <a:t>一样</a:t>
            </a:r>
            <a:r>
              <a:rPr lang="zh-CN" altLang="en-US" sz="2000" dirty="0"/>
              <a:t>），又可以根据分值以及分值的排列顺序来访问元素的结构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en-US" altLang="zh-CN" sz="2000" dirty="0" err="1" smtClean="0"/>
              <a:t>ZSet</a:t>
            </a:r>
            <a:r>
              <a:rPr lang="zh-CN" altLang="en-US" sz="2000" dirty="0" smtClean="0"/>
              <a:t>是</a:t>
            </a:r>
            <a:r>
              <a:rPr lang="zh-CN" altLang="en-US" sz="2000" dirty="0"/>
              <a:t>使用散列表和跳跃表（</a:t>
            </a:r>
            <a:r>
              <a:rPr lang="en-US" altLang="zh-CN" sz="2000" dirty="0"/>
              <a:t>Skip list</a:t>
            </a:r>
            <a:r>
              <a:rPr lang="zh-CN" altLang="en-US" sz="2000" dirty="0"/>
              <a:t>）实现的，所以即使读取位于中间部分的数据速度也很快（时间复杂度是</a:t>
            </a:r>
            <a:r>
              <a:rPr lang="en-US" altLang="zh-CN" sz="2000" dirty="0"/>
              <a:t>O(log(N))</a:t>
            </a:r>
            <a:r>
              <a:rPr lang="zh-CN" altLang="en-US" sz="2000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39258865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ZSet</a:t>
            </a:r>
            <a:r>
              <a:rPr lang="zh-CN" altLang="en-US" dirty="0" smtClean="0"/>
              <a:t>类型相关命令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76917" y="2017713"/>
            <a:ext cx="10363200" cy="470372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400" dirty="0"/>
              <a:t>ZADD key </a:t>
            </a:r>
            <a:r>
              <a:rPr lang="en-US" altLang="zh-CN" sz="1400" dirty="0" smtClean="0"/>
              <a:t>score1 member1 [score2 member2]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向有序集合添加一个或多个成员，或者更新已存在成员的分数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/>
              <a:t>ZREM key </a:t>
            </a:r>
            <a:r>
              <a:rPr lang="en-US" altLang="zh-CN" sz="1400" dirty="0" smtClean="0"/>
              <a:t>member1 </a:t>
            </a:r>
            <a:r>
              <a:rPr lang="en-US" altLang="zh-CN" sz="1400" dirty="0"/>
              <a:t>[</a:t>
            </a:r>
            <a:r>
              <a:rPr lang="en-US" altLang="zh-CN" sz="1400" dirty="0" smtClean="0"/>
              <a:t>member2]                                   #</a:t>
            </a:r>
            <a:r>
              <a:rPr lang="zh-CN" altLang="en-US" sz="1400" dirty="0"/>
              <a:t>移除有序</a:t>
            </a:r>
            <a:r>
              <a:rPr lang="zh-CN" altLang="en-US" sz="1400" dirty="0" smtClean="0"/>
              <a:t>集合中</a:t>
            </a:r>
            <a:r>
              <a:rPr lang="zh-CN" altLang="en-US" sz="1400" dirty="0"/>
              <a:t>的一个或多个成员，不存在的成员将被忽略。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/>
              <a:t>ZCARD key </a:t>
            </a:r>
            <a:r>
              <a:rPr lang="en-US" altLang="zh-CN" sz="1400" dirty="0" smtClean="0"/>
              <a:t>                                     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获取有序集合的成员数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/>
              <a:t>ZCOUNT key min max </a:t>
            </a:r>
            <a:r>
              <a:rPr lang="en-US" altLang="zh-CN" sz="1400" dirty="0" smtClean="0"/>
              <a:t>                      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计算在有序集合中指定区间分数的成员数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/>
              <a:t>ZSCORE key member </a:t>
            </a:r>
            <a:r>
              <a:rPr lang="en-US" altLang="zh-CN" sz="1400" dirty="0" smtClean="0"/>
              <a:t>                       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返回有序</a:t>
            </a:r>
            <a:r>
              <a:rPr lang="zh-CN" altLang="en-US" sz="1400" dirty="0" smtClean="0"/>
              <a:t>集合中</a:t>
            </a:r>
            <a:r>
              <a:rPr lang="zh-CN" altLang="en-US" sz="1400" dirty="0"/>
              <a:t>，成员的分数值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/>
              <a:t>ZINCRBY key increment member </a:t>
            </a:r>
            <a:r>
              <a:rPr lang="en-US" altLang="zh-CN" sz="1400" dirty="0" smtClean="0"/>
              <a:t>       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有序集合中对指定成员的分数加上</a:t>
            </a:r>
            <a:r>
              <a:rPr lang="zh-CN" altLang="en-US" sz="1400" dirty="0" smtClean="0"/>
              <a:t>增量</a:t>
            </a:r>
            <a:r>
              <a:rPr lang="en-US" altLang="zh-CN" sz="1400" dirty="0" smtClean="0"/>
              <a:t>increment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/>
              <a:t>ZRANGE key start stop [WITHSCORES] </a:t>
            </a:r>
            <a:r>
              <a:rPr lang="en-US" altLang="zh-CN" sz="1400" dirty="0" smtClean="0"/>
              <a:t>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 smtClean="0"/>
              <a:t>通过升序排名索引返回</a:t>
            </a:r>
            <a:r>
              <a:rPr lang="zh-CN" altLang="en-US" sz="1400" dirty="0"/>
              <a:t>有序集合成指定区间内的</a:t>
            </a:r>
            <a:r>
              <a:rPr lang="zh-CN" altLang="en-US" sz="1400" dirty="0" smtClean="0"/>
              <a:t>成员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 smtClean="0"/>
              <a:t>ZREVRANGE </a:t>
            </a:r>
            <a:r>
              <a:rPr lang="en-US" altLang="zh-CN" sz="1400" dirty="0"/>
              <a:t>key start stop [WITHSCORES] </a:t>
            </a:r>
            <a:r>
              <a:rPr lang="en-US" altLang="zh-CN" sz="1400" dirty="0" smtClean="0"/>
              <a:t>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 smtClean="0"/>
              <a:t>通过降序序</a:t>
            </a:r>
            <a:r>
              <a:rPr lang="zh-CN" altLang="en-US" sz="1400" dirty="0"/>
              <a:t>排名索引</a:t>
            </a:r>
            <a:r>
              <a:rPr lang="zh-CN" altLang="en-US" sz="1400" dirty="0" smtClean="0"/>
              <a:t>返回</a:t>
            </a:r>
            <a:r>
              <a:rPr lang="zh-CN" altLang="en-US" sz="1400" dirty="0"/>
              <a:t>有序集合成指定区间内的</a:t>
            </a:r>
            <a:r>
              <a:rPr lang="zh-CN" altLang="en-US" sz="1400" dirty="0" smtClean="0"/>
              <a:t>成员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 smtClean="0"/>
              <a:t>ZRANGEBYSCORE </a:t>
            </a:r>
            <a:r>
              <a:rPr lang="en-US" altLang="zh-CN" sz="1400" dirty="0"/>
              <a:t>key min max [WITHSCORES] [LIMIT offset count</a:t>
            </a:r>
            <a:r>
              <a:rPr lang="en-US" altLang="zh-CN" sz="1400" dirty="0" smtClean="0"/>
              <a:t>]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通过分数返回有序集合指定区间内的</a:t>
            </a:r>
            <a:r>
              <a:rPr lang="zh-CN" altLang="en-US" sz="1400" dirty="0" smtClean="0"/>
              <a:t>成员</a:t>
            </a:r>
            <a:r>
              <a:rPr lang="zh-CN" altLang="en-US" sz="1400" dirty="0"/>
              <a:t>（分值升序） </a:t>
            </a:r>
            <a:r>
              <a:rPr lang="en-US" altLang="zh-CN" sz="1400" dirty="0" smtClean="0"/>
              <a:t>ZREVRANGEBYSCORE </a:t>
            </a:r>
            <a:r>
              <a:rPr lang="en-US" altLang="zh-CN" sz="1400" dirty="0"/>
              <a:t>key max min [WITHSCORES] [LIMIT offset count</a:t>
            </a:r>
            <a:r>
              <a:rPr lang="en-US" altLang="zh-CN" sz="1400" dirty="0" smtClean="0"/>
              <a:t>]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通过分数返回有序集合指定区间内的</a:t>
            </a:r>
            <a:r>
              <a:rPr lang="zh-CN" altLang="en-US" sz="1400" dirty="0" smtClean="0"/>
              <a:t>成员</a:t>
            </a:r>
            <a:r>
              <a:rPr lang="zh-CN" altLang="en-US" sz="1400" dirty="0"/>
              <a:t>（分值降序</a:t>
            </a:r>
            <a:r>
              <a:rPr lang="zh-CN" altLang="en-US" sz="1400" dirty="0" smtClean="0"/>
              <a:t>）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/>
              <a:t>ZRANK key </a:t>
            </a:r>
            <a:r>
              <a:rPr lang="en-US" altLang="zh-CN" sz="1400" dirty="0" smtClean="0"/>
              <a:t>member                           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返回有序集合中指定成员</a:t>
            </a:r>
            <a:r>
              <a:rPr lang="zh-CN" altLang="en-US" sz="1400" dirty="0" smtClean="0"/>
              <a:t>的升序排名索引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/>
              <a:t>ZREVRANK key </a:t>
            </a:r>
            <a:r>
              <a:rPr lang="en-US" altLang="zh-CN" sz="1400" dirty="0" smtClean="0"/>
              <a:t>member                     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返回有序集合中指定成员</a:t>
            </a:r>
            <a:r>
              <a:rPr lang="zh-CN" altLang="en-US" sz="1400" dirty="0" smtClean="0"/>
              <a:t>的</a:t>
            </a:r>
            <a:r>
              <a:rPr lang="zh-CN" altLang="en-US" sz="1400" dirty="0"/>
              <a:t>降序</a:t>
            </a:r>
            <a:r>
              <a:rPr lang="zh-CN" altLang="en-US" sz="1400" dirty="0" smtClean="0"/>
              <a:t>排名索引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/>
              <a:t>ZREMRANGEBYRANK key start </a:t>
            </a:r>
            <a:r>
              <a:rPr lang="en-US" altLang="zh-CN" sz="1400" dirty="0" smtClean="0"/>
              <a:t>stop     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移除有序集合中给定的排名区间的所有成员</a:t>
            </a:r>
            <a:endParaRPr lang="zh-CN" altLang="en-US" sz="1400" dirty="0" smtClean="0"/>
          </a:p>
          <a:p>
            <a:pPr marL="0" indent="0">
              <a:buNone/>
            </a:pPr>
            <a:r>
              <a:rPr lang="en-US" altLang="zh-CN" sz="1400" dirty="0"/>
              <a:t>ZREMRANGEBYSCORE key min </a:t>
            </a:r>
            <a:r>
              <a:rPr lang="en-US" altLang="zh-CN" sz="1400" dirty="0" smtClean="0"/>
              <a:t>max                               </a:t>
            </a:r>
            <a:r>
              <a:rPr lang="en-US" altLang="zh-CN" sz="1400" dirty="0" smtClean="0"/>
              <a:t>#</a:t>
            </a:r>
            <a:r>
              <a:rPr lang="zh-CN" altLang="en-US" sz="1400" dirty="0"/>
              <a:t>移除有序集合中给定的分数区间的所有</a:t>
            </a:r>
            <a:r>
              <a:rPr lang="zh-CN" altLang="en-US" sz="1400" dirty="0" smtClean="0"/>
              <a:t>成员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/>
              <a:t>ZINTERSTORE </a:t>
            </a:r>
            <a:r>
              <a:rPr lang="en-US" altLang="zh-CN" sz="1400" dirty="0" smtClean="0"/>
              <a:t>target </a:t>
            </a:r>
            <a:r>
              <a:rPr lang="en-US" altLang="zh-CN" sz="1400" dirty="0" err="1"/>
              <a:t>numkeys</a:t>
            </a:r>
            <a:r>
              <a:rPr lang="en-US" altLang="zh-CN" sz="1400" dirty="0"/>
              <a:t> </a:t>
            </a:r>
            <a:r>
              <a:rPr lang="en-US" altLang="zh-CN" sz="1400" dirty="0" smtClean="0"/>
              <a:t>key1 </a:t>
            </a:r>
            <a:r>
              <a:rPr lang="en-US" altLang="zh-CN" sz="1400" dirty="0"/>
              <a:t>[</a:t>
            </a:r>
            <a:r>
              <a:rPr lang="en-US" altLang="zh-CN" sz="1400" dirty="0" smtClean="0"/>
              <a:t>key2] </a:t>
            </a:r>
            <a:r>
              <a:rPr lang="en-US" altLang="zh-CN" sz="1400" dirty="0"/>
              <a:t>[WEIGHTS </a:t>
            </a:r>
            <a:r>
              <a:rPr lang="en-US" altLang="zh-CN" sz="1400" dirty="0" smtClean="0"/>
              <a:t>weight1 </a:t>
            </a:r>
            <a:r>
              <a:rPr lang="en-US" altLang="zh-CN" sz="1400" dirty="0"/>
              <a:t>[</a:t>
            </a:r>
            <a:r>
              <a:rPr lang="en-US" altLang="zh-CN" sz="1400" dirty="0" smtClean="0"/>
              <a:t>weight2]] </a:t>
            </a:r>
            <a:r>
              <a:rPr lang="en-US" altLang="zh-CN" sz="1400" dirty="0"/>
              <a:t>[AGGREGATE SUM|MIN|MAX] 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 smtClean="0"/>
              <a:t>#</a:t>
            </a:r>
            <a:r>
              <a:rPr lang="zh-CN" altLang="en-US" sz="1400" dirty="0"/>
              <a:t>计算给定的一个或多个有序集的</a:t>
            </a:r>
            <a:r>
              <a:rPr lang="zh-CN" altLang="en-US" sz="1400" dirty="0" smtClean="0"/>
              <a:t>交集</a:t>
            </a:r>
            <a:r>
              <a:rPr lang="zh-CN" altLang="en-US" sz="1400" dirty="0"/>
              <a:t>，</a:t>
            </a:r>
            <a:r>
              <a:rPr lang="zh-CN" altLang="en-US" sz="1400" dirty="0" smtClean="0"/>
              <a:t>并</a:t>
            </a:r>
            <a:r>
              <a:rPr lang="zh-CN" altLang="en-US" sz="1400" dirty="0"/>
              <a:t>将结果集存储在新的有序</a:t>
            </a:r>
            <a:r>
              <a:rPr lang="zh-CN" altLang="en-US" sz="1400" dirty="0" smtClean="0"/>
              <a:t>集合</a:t>
            </a:r>
            <a:r>
              <a:rPr lang="en-US" altLang="zh-CN" sz="1400" dirty="0" smtClean="0"/>
              <a:t>key</a:t>
            </a:r>
            <a:r>
              <a:rPr lang="zh-CN" altLang="en-US" sz="1400" dirty="0" smtClean="0"/>
              <a:t>中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/>
              <a:t>ZUNIONSTORE </a:t>
            </a:r>
            <a:r>
              <a:rPr lang="en-US" altLang="zh-CN" sz="1400" dirty="0" smtClean="0"/>
              <a:t>target </a:t>
            </a:r>
            <a:r>
              <a:rPr lang="en-US" altLang="zh-CN" sz="1400" dirty="0" err="1" smtClean="0"/>
              <a:t>numkeys</a:t>
            </a:r>
            <a:r>
              <a:rPr lang="en-US" altLang="zh-CN" sz="1400" dirty="0" smtClean="0"/>
              <a:t> key1 </a:t>
            </a:r>
            <a:r>
              <a:rPr lang="en-US" altLang="zh-CN" sz="1400" dirty="0"/>
              <a:t>[</a:t>
            </a:r>
            <a:r>
              <a:rPr lang="en-US" altLang="zh-CN" sz="1400" dirty="0" smtClean="0"/>
              <a:t>key2] </a:t>
            </a:r>
            <a:r>
              <a:rPr lang="en-US" altLang="zh-CN" sz="1400" dirty="0"/>
              <a:t>[WEIGHTS </a:t>
            </a:r>
            <a:r>
              <a:rPr lang="en-US" altLang="zh-CN" sz="1400" dirty="0" smtClean="0"/>
              <a:t>weight1 </a:t>
            </a:r>
            <a:r>
              <a:rPr lang="en-US" altLang="zh-CN" sz="1400" dirty="0"/>
              <a:t>[</a:t>
            </a:r>
            <a:r>
              <a:rPr lang="en-US" altLang="zh-CN" sz="1400" dirty="0" smtClean="0"/>
              <a:t>weight2]] </a:t>
            </a:r>
            <a:r>
              <a:rPr lang="en-US" altLang="zh-CN" sz="1400" dirty="0"/>
              <a:t>[AGGREGATE SUM|MIN|MAX]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 smtClean="0"/>
              <a:t>#</a:t>
            </a:r>
            <a:r>
              <a:rPr lang="zh-CN" altLang="en-US" sz="1400" dirty="0"/>
              <a:t>计算给定的一个或多个有序集的并集</a:t>
            </a:r>
            <a:r>
              <a:rPr lang="zh-CN" altLang="en-US" sz="1400" dirty="0" smtClean="0"/>
              <a:t>，</a:t>
            </a:r>
            <a:r>
              <a:rPr lang="zh-CN" altLang="en-US" sz="1400" dirty="0"/>
              <a:t>并将结果集存储在新的有序</a:t>
            </a:r>
            <a:r>
              <a:rPr lang="zh-CN" altLang="en-US" sz="1400" dirty="0" smtClean="0"/>
              <a:t>集合</a:t>
            </a:r>
            <a:r>
              <a:rPr lang="en-US" altLang="zh-CN" sz="1400" dirty="0" smtClean="0"/>
              <a:t>key</a:t>
            </a:r>
            <a:r>
              <a:rPr lang="zh-CN" altLang="en-US" sz="1400" dirty="0" smtClean="0"/>
              <a:t>中</a:t>
            </a:r>
            <a:endParaRPr lang="en-US" altLang="zh-CN" sz="14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06424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ZSet</a:t>
            </a:r>
            <a:r>
              <a:rPr lang="zh-CN" altLang="en-US" dirty="0" smtClean="0"/>
              <a:t>应用场景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ym typeface="Arial" charset="0"/>
              </a:rPr>
              <a:t>各种排行榜</a:t>
            </a:r>
            <a:endParaRPr lang="en-US" altLang="zh-CN" dirty="0" smtClean="0">
              <a:sym typeface="Arial" charset="0"/>
            </a:endParaRPr>
          </a:p>
          <a:p>
            <a:r>
              <a:rPr lang="zh-CN" altLang="en-US" dirty="0">
                <a:sym typeface="Arial" charset="0"/>
              </a:rPr>
              <a:t>时间线</a:t>
            </a:r>
            <a:endParaRPr lang="en-US" altLang="zh-CN" dirty="0" smtClean="0">
              <a:sym typeface="Arial" charset="0"/>
            </a:endParaRPr>
          </a:p>
          <a:p>
            <a:r>
              <a:rPr lang="zh-CN" altLang="en-US" dirty="0" smtClean="0">
                <a:sym typeface="Arial" charset="0"/>
              </a:rPr>
              <a:t>权重队列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92229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Redis</a:t>
            </a:r>
            <a:r>
              <a:rPr lang="zh-CN" altLang="en-US" dirty="0" smtClean="0"/>
              <a:t>事务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65042" y="2005837"/>
            <a:ext cx="10363200" cy="4454339"/>
          </a:xfrm>
        </p:spPr>
        <p:txBody>
          <a:bodyPr/>
          <a:lstStyle/>
          <a:p>
            <a:r>
              <a:rPr lang="en-US" altLang="zh-CN" sz="2000" dirty="0" err="1" smtClean="0"/>
              <a:t>Redis</a:t>
            </a:r>
            <a:r>
              <a:rPr lang="zh-CN" altLang="en-US" sz="2000" dirty="0" smtClean="0"/>
              <a:t>事务</a:t>
            </a:r>
            <a:r>
              <a:rPr lang="zh-CN" altLang="en-US" sz="2000" dirty="0"/>
              <a:t>提供了一</a:t>
            </a:r>
            <a:r>
              <a:rPr lang="zh-CN" altLang="en-US" sz="2000" dirty="0" smtClean="0"/>
              <a:t>种“将</a:t>
            </a:r>
            <a:r>
              <a:rPr lang="zh-CN" altLang="en-US" sz="2000" dirty="0"/>
              <a:t>多个命令打包， 然后一次性、按顺序地执行”的机制， 并且事务在执行的期间不会主动中断 </a:t>
            </a:r>
            <a:r>
              <a:rPr lang="en-US" altLang="zh-CN" sz="2000" dirty="0"/>
              <a:t>—— </a:t>
            </a:r>
            <a:r>
              <a:rPr lang="zh-CN" altLang="en-US" sz="2000" dirty="0"/>
              <a:t>服务器在执行完事务中的所有命令之后， 才会继续处理其他客户端的其他命令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marL="0" indent="0">
              <a:buNone/>
            </a:pPr>
            <a:endParaRPr lang="en-US" altLang="zh-CN" sz="2000" dirty="0" smtClean="0"/>
          </a:p>
          <a:p>
            <a:pPr marL="0" indent="0">
              <a:buNone/>
            </a:pPr>
            <a:r>
              <a:rPr lang="zh-CN" altLang="en-US" sz="2000" dirty="0" smtClean="0"/>
              <a:t>主要涉及的命令：</a:t>
            </a:r>
            <a:endParaRPr lang="en-US" altLang="zh-CN" sz="2000" dirty="0" smtClean="0"/>
          </a:p>
          <a:p>
            <a:r>
              <a:rPr lang="en-US" altLang="zh-CN" sz="2000" dirty="0"/>
              <a:t>MULTI</a:t>
            </a:r>
            <a:r>
              <a:rPr lang="zh-CN" altLang="en-US" sz="2000" dirty="0"/>
              <a:t>，</a:t>
            </a:r>
            <a:r>
              <a:rPr lang="zh-CN" altLang="en-US" sz="2000" dirty="0" smtClean="0"/>
              <a:t>告诉</a:t>
            </a:r>
            <a:r>
              <a:rPr lang="en-US" altLang="zh-CN" sz="2000" dirty="0" err="1" smtClean="0"/>
              <a:t>Redis</a:t>
            </a:r>
            <a:r>
              <a:rPr lang="zh-CN" altLang="en-US" sz="2000" dirty="0" smtClean="0"/>
              <a:t>服务器</a:t>
            </a:r>
            <a:r>
              <a:rPr lang="zh-CN" altLang="en-US" sz="2000" dirty="0"/>
              <a:t>开启一个事务</a:t>
            </a:r>
            <a:r>
              <a:rPr lang="zh-CN" altLang="en-US" sz="2000" dirty="0" smtClean="0"/>
              <a:t>。（</a:t>
            </a:r>
            <a:r>
              <a:rPr lang="zh-CN" altLang="en-US" sz="2000" dirty="0"/>
              <a:t>注意，只是开启，而不是</a:t>
            </a:r>
            <a:r>
              <a:rPr lang="zh-CN" altLang="en-US" sz="2000" dirty="0" smtClean="0"/>
              <a:t>执行）</a:t>
            </a:r>
            <a:endParaRPr lang="en-US" altLang="zh-CN" sz="2000" dirty="0" smtClean="0"/>
          </a:p>
          <a:p>
            <a:r>
              <a:rPr lang="en-US" altLang="zh-CN" sz="2000" dirty="0" smtClean="0"/>
              <a:t>EXEC</a:t>
            </a:r>
            <a:r>
              <a:rPr lang="zh-CN" altLang="en-US" sz="2000" dirty="0"/>
              <a:t>，</a:t>
            </a:r>
            <a:r>
              <a:rPr lang="zh-CN" altLang="en-US" sz="2000" dirty="0" smtClean="0"/>
              <a:t>告诉</a:t>
            </a:r>
            <a:r>
              <a:rPr lang="en-US" altLang="zh-CN" sz="2000" dirty="0" err="1" smtClean="0"/>
              <a:t>Redis</a:t>
            </a:r>
            <a:r>
              <a:rPr lang="zh-CN" altLang="en-US" sz="2000" dirty="0" smtClean="0"/>
              <a:t>开始</a:t>
            </a:r>
            <a:r>
              <a:rPr lang="zh-CN" altLang="en-US" sz="2000" dirty="0"/>
              <a:t>执行</a:t>
            </a:r>
            <a:r>
              <a:rPr lang="zh-CN" altLang="en-US" sz="2000" dirty="0" smtClean="0"/>
              <a:t>事务。</a:t>
            </a:r>
            <a:endParaRPr lang="zh-CN" altLang="en-US" sz="2000" dirty="0"/>
          </a:p>
          <a:p>
            <a:r>
              <a:rPr lang="en-US" altLang="zh-CN" sz="2000" dirty="0"/>
              <a:t>DISCARD</a:t>
            </a:r>
            <a:r>
              <a:rPr lang="zh-CN" altLang="en-US" sz="2000" dirty="0"/>
              <a:t>，</a:t>
            </a:r>
            <a:r>
              <a:rPr lang="zh-CN" altLang="en-US" sz="2000" dirty="0" smtClean="0"/>
              <a:t>告诉</a:t>
            </a:r>
            <a:r>
              <a:rPr lang="en-US" altLang="zh-CN" sz="2000" dirty="0" err="1" smtClean="0"/>
              <a:t>Redis</a:t>
            </a:r>
            <a:r>
              <a:rPr lang="zh-CN" altLang="en-US" sz="2000" dirty="0" smtClean="0"/>
              <a:t>取消事务。</a:t>
            </a:r>
            <a:endParaRPr lang="zh-CN" altLang="en-US" sz="2000" dirty="0"/>
          </a:p>
          <a:p>
            <a:r>
              <a:rPr lang="en-US" altLang="zh-CN" sz="2000" dirty="0"/>
              <a:t>WATCH</a:t>
            </a:r>
            <a:r>
              <a:rPr lang="zh-CN" altLang="en-US" sz="2000" dirty="0"/>
              <a:t>，监视某一个键值对，它的作用是在事务执行之前如果监视的键值被修改，事务会被取消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pPr marL="0" indent="0">
              <a:buNone/>
            </a:pPr>
            <a:r>
              <a:rPr lang="zh-CN" altLang="en-US" sz="2000" dirty="0" smtClean="0"/>
              <a:t>其他方式：</a:t>
            </a:r>
            <a:endParaRPr lang="en-US" altLang="zh-CN" sz="2000" dirty="0"/>
          </a:p>
          <a:p>
            <a:r>
              <a:rPr lang="en-US" altLang="zh-CN" sz="2000" dirty="0" err="1" smtClean="0"/>
              <a:t>Lua</a:t>
            </a:r>
            <a:r>
              <a:rPr lang="zh-CN" altLang="en-US" sz="2000" dirty="0" smtClean="0"/>
              <a:t>脚本（优劣势）</a:t>
            </a:r>
            <a:endParaRPr lang="zh-CN" altLang="en-US" sz="20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96001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Redis</a:t>
            </a:r>
            <a:r>
              <a:rPr lang="zh-CN" altLang="en-US" dirty="0" smtClean="0"/>
              <a:t>事务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65042" y="2005838"/>
            <a:ext cx="10363200" cy="4114800"/>
          </a:xfrm>
        </p:spPr>
        <p:txBody>
          <a:bodyPr/>
          <a:lstStyle/>
          <a:p>
            <a:r>
              <a:rPr lang="en-US" altLang="zh-CN" sz="2000" dirty="0" err="1" smtClean="0"/>
              <a:t>Redis</a:t>
            </a:r>
            <a:r>
              <a:rPr lang="zh-CN" altLang="en-US" sz="2000" dirty="0" smtClean="0"/>
              <a:t>事务中，遇到语法错误（指</a:t>
            </a:r>
            <a:r>
              <a:rPr lang="zh-CN" altLang="en-US" sz="2000" dirty="0"/>
              <a:t>命令不存在或者命令参数的个数不对</a:t>
            </a:r>
            <a:r>
              <a:rPr lang="zh-CN" altLang="en-US" sz="2000" dirty="0" smtClean="0"/>
              <a:t>），则清空事务队列，事务中的所有命令都不执行。</a:t>
            </a:r>
            <a:endParaRPr lang="en-US" altLang="zh-CN" sz="2000" dirty="0" smtClean="0"/>
          </a:p>
          <a:p>
            <a:pPr marL="0" indent="0">
              <a:buNone/>
            </a:pPr>
            <a:endParaRPr lang="en-US" altLang="zh-CN" sz="2000" dirty="0" smtClean="0"/>
          </a:p>
          <a:p>
            <a:r>
              <a:rPr lang="en-US" altLang="zh-CN" sz="2000" dirty="0" err="1"/>
              <a:t>Redis</a:t>
            </a:r>
            <a:r>
              <a:rPr lang="zh-CN" altLang="en-US" sz="2000" dirty="0"/>
              <a:t>事务中</a:t>
            </a:r>
            <a:r>
              <a:rPr lang="zh-CN" altLang="en-US" sz="2000" dirty="0" smtClean="0"/>
              <a:t>，遇到运行错误（</a:t>
            </a:r>
            <a:r>
              <a:rPr lang="zh-CN" altLang="en-US" sz="2000" dirty="0"/>
              <a:t>指在命令执行时出现的错误，比如使用散列类型的命令操作集合类型的键，这种错误在实际执行之前</a:t>
            </a:r>
            <a:r>
              <a:rPr lang="en-US" altLang="zh-CN" sz="2000" dirty="0" err="1"/>
              <a:t>Redis</a:t>
            </a:r>
            <a:r>
              <a:rPr lang="zh-CN" altLang="en-US" sz="2000" dirty="0"/>
              <a:t>是无法发现的</a:t>
            </a:r>
            <a:r>
              <a:rPr lang="zh-CN" altLang="en-US" sz="2000" dirty="0" smtClean="0"/>
              <a:t>），事务不会回滚，继续往下执行事务队列中的其他命令。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en-US" altLang="zh-CN" sz="2000" dirty="0" err="1"/>
              <a:t>Redis</a:t>
            </a:r>
            <a:r>
              <a:rPr lang="zh-CN" altLang="en-US" sz="2000" dirty="0" smtClean="0"/>
              <a:t>事务满足一致性和隔离性，不满足原子性和持久性。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95041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特征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1733596"/>
              </p:ext>
            </p:extLst>
          </p:nvPr>
        </p:nvGraphicFramePr>
        <p:xfrm>
          <a:off x="1004552" y="2055902"/>
          <a:ext cx="9036049" cy="4465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536"/>
                <a:gridCol w="900055"/>
                <a:gridCol w="576035"/>
                <a:gridCol w="1224075"/>
                <a:gridCol w="900055"/>
                <a:gridCol w="900055"/>
                <a:gridCol w="936058"/>
                <a:gridCol w="936058"/>
                <a:gridCol w="432027"/>
                <a:gridCol w="900055"/>
                <a:gridCol w="612040"/>
              </a:tblGrid>
              <a:tr h="1284409"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数据库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数据存储持久化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高速读写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集群部署</a:t>
                      </a:r>
                      <a:endParaRPr lang="en-US" altLang="zh-CN" sz="18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 smtClean="0"/>
                        <a:t>动态扩展</a:t>
                      </a:r>
                    </a:p>
                    <a:p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数据一致性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事务性操作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主从备份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 smtClean="0"/>
                        <a:t>Sche</a:t>
                      </a:r>
                      <a:r>
                        <a:rPr lang="en-US" altLang="zh-CN" sz="1800" dirty="0" smtClean="0"/>
                        <a:t>-me free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数据结构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高并发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 smtClean="0"/>
                        <a:t>vm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</a:tr>
              <a:tr h="3181228">
                <a:tc>
                  <a:txBody>
                    <a:bodyPr/>
                    <a:lstStyle/>
                    <a:p>
                      <a:r>
                        <a:rPr lang="en-US" altLang="zh-CN" sz="1800" dirty="0" err="1" smtClean="0"/>
                        <a:t>redis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支持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支持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目前仅单实例部署，但通过客户端做</a:t>
                      </a:r>
                      <a:r>
                        <a:rPr lang="en-US" altLang="zh-CN" sz="1800" dirty="0" smtClean="0"/>
                        <a:t>pre-</a:t>
                      </a:r>
                      <a:r>
                        <a:rPr lang="en-US" altLang="zh-CN" sz="1800" dirty="0" err="1" smtClean="0"/>
                        <a:t>sharding</a:t>
                      </a:r>
                      <a:r>
                        <a:rPr lang="zh-CN" altLang="en-US" sz="1800" dirty="0" smtClean="0"/>
                        <a:t>方案可搭建伪集群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支持</a:t>
                      </a:r>
                      <a:endParaRPr lang="en-US" altLang="zh-CN" sz="1800" dirty="0" smtClean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支持但不支持回滚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支持，但是主机迭机后，不能自动选举丛机位为主机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Key-value</a:t>
                      </a:r>
                      <a:r>
                        <a:rPr lang="zh-CN" altLang="en-US" sz="1800" dirty="0" smtClean="0"/>
                        <a:t>模型，支持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支持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（单线程的</a:t>
                      </a:r>
                      <a:r>
                        <a:rPr lang="en-US" altLang="zh-CN" sz="1800" dirty="0" smtClean="0"/>
                        <a:t>IO</a:t>
                      </a:r>
                      <a:r>
                        <a:rPr lang="zh-CN" altLang="en-US" sz="1800" dirty="0" smtClean="0"/>
                        <a:t>复用模型）支持一定量的并发数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支持</a:t>
                      </a:r>
                      <a:endParaRPr lang="zh-CN" altLang="en-US" sz="1800" dirty="0"/>
                    </a:p>
                  </a:txBody>
                  <a:tcPr marL="91435" marR="91435" marT="45732" marB="45732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9358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内容占位符 2"/>
          <p:cNvSpPr txBox="1">
            <a:spLocks/>
          </p:cNvSpPr>
          <p:nvPr/>
        </p:nvSpPr>
        <p:spPr bwMode="auto">
          <a:xfrm>
            <a:off x="1634700" y="0"/>
            <a:ext cx="8229600" cy="493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性能测试：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700" y="2173288"/>
            <a:ext cx="4378325" cy="268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525" y="2557463"/>
            <a:ext cx="4379912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700" y="3981450"/>
            <a:ext cx="4379912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标注 3"/>
          <p:cNvSpPr>
            <a:spLocks noChangeArrowheads="1"/>
          </p:cNvSpPr>
          <p:nvPr/>
        </p:nvSpPr>
        <p:spPr bwMode="auto">
          <a:xfrm>
            <a:off x="6452135" y="5703887"/>
            <a:ext cx="3614738" cy="1069975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CPU</a:t>
            </a:r>
            <a:r>
              <a:rPr lang="zh-CN" altLang="en-US" dirty="0"/>
              <a:t>为</a:t>
            </a:r>
            <a:r>
              <a:rPr lang="en-US" altLang="zh-CN" dirty="0"/>
              <a:t>Xeon 2.80GHz *4</a:t>
            </a:r>
          </a:p>
          <a:p>
            <a:r>
              <a:rPr lang="zh-CN" altLang="en-US" dirty="0"/>
              <a:t>内存为</a:t>
            </a:r>
            <a:r>
              <a:rPr lang="en-US" altLang="zh-CN" dirty="0"/>
              <a:t>4G</a:t>
            </a:r>
          </a:p>
          <a:p>
            <a:r>
              <a:rPr lang="zh-CN" altLang="en-US" dirty="0"/>
              <a:t>硬盘为一块</a:t>
            </a:r>
            <a:r>
              <a:rPr lang="en-US" altLang="zh-CN" dirty="0"/>
              <a:t>400G SATA</a:t>
            </a:r>
            <a:r>
              <a:rPr lang="zh-CN" altLang="en-US" dirty="0"/>
              <a:t>盘</a:t>
            </a:r>
          </a:p>
          <a:p>
            <a:r>
              <a:rPr lang="zh-CN" altLang="en-US" dirty="0"/>
              <a:t>操作系统为</a:t>
            </a:r>
            <a:r>
              <a:rPr lang="en-US" altLang="zh-CN" dirty="0"/>
              <a:t>64</a:t>
            </a:r>
            <a:r>
              <a:rPr lang="zh-CN" altLang="en-US" dirty="0"/>
              <a:t>位</a:t>
            </a:r>
            <a:r>
              <a:rPr lang="en-US" altLang="zh-CN" dirty="0" err="1"/>
              <a:t>CentOS</a:t>
            </a:r>
            <a:r>
              <a:rPr lang="en-US" altLang="zh-CN" dirty="0"/>
              <a:t> 5.3</a:t>
            </a:r>
            <a:r>
              <a:rPr lang="zh-CN" altLang="en-US" dirty="0"/>
              <a:t>版本</a:t>
            </a:r>
          </a:p>
        </p:txBody>
      </p:sp>
      <p:sp>
        <p:nvSpPr>
          <p:cNvPr id="21" name="TextBox 4"/>
          <p:cNvSpPr txBox="1">
            <a:spLocks noChangeArrowheads="1"/>
          </p:cNvSpPr>
          <p:nvPr/>
        </p:nvSpPr>
        <p:spPr bwMode="auto">
          <a:xfrm>
            <a:off x="1999938" y="678409"/>
            <a:ext cx="2912950" cy="1756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写测试：写入</a:t>
            </a:r>
            <a:r>
              <a:rPr lang="en-US" altLang="zh-CN" dirty="0"/>
              <a:t>500</a:t>
            </a:r>
            <a:r>
              <a:rPr lang="zh-CN" altLang="en-US" dirty="0"/>
              <a:t>万条记录，共耗时</a:t>
            </a:r>
            <a:r>
              <a:rPr lang="en-US" altLang="zh-CN" dirty="0"/>
              <a:t>524</a:t>
            </a:r>
            <a:r>
              <a:rPr lang="zh-CN" altLang="en-US" dirty="0"/>
              <a:t>秒，平均每秒写入数据</a:t>
            </a:r>
            <a:r>
              <a:rPr lang="en-US" altLang="zh-CN" dirty="0"/>
              <a:t>9542</a:t>
            </a:r>
            <a:r>
              <a:rPr lang="zh-CN" altLang="en-US" dirty="0"/>
              <a:t>笔。磁盘上的数据文件大小</a:t>
            </a:r>
            <a:r>
              <a:rPr lang="en-US" altLang="zh-CN" dirty="0"/>
              <a:t>134M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22" name="TextBox 8"/>
          <p:cNvSpPr txBox="1">
            <a:spLocks noChangeArrowheads="1"/>
          </p:cNvSpPr>
          <p:nvPr/>
        </p:nvSpPr>
        <p:spPr bwMode="auto">
          <a:xfrm>
            <a:off x="6203525" y="781052"/>
            <a:ext cx="331152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读测试：成功读出</a:t>
            </a:r>
            <a:r>
              <a:rPr lang="en-US" altLang="zh-CN" dirty="0"/>
              <a:t>500</a:t>
            </a:r>
            <a:r>
              <a:rPr lang="zh-CN" altLang="en-US" dirty="0"/>
              <a:t>万条记录，共耗时</a:t>
            </a:r>
            <a:r>
              <a:rPr lang="en-US" altLang="zh-CN" dirty="0"/>
              <a:t>184</a:t>
            </a:r>
            <a:r>
              <a:rPr lang="zh-CN" altLang="en-US" dirty="0"/>
              <a:t>秒，平均每秒读出数据</a:t>
            </a:r>
            <a:r>
              <a:rPr lang="en-US" altLang="zh-CN" dirty="0"/>
              <a:t>27174</a:t>
            </a:r>
            <a:r>
              <a:rPr lang="zh-CN" altLang="en-US" dirty="0"/>
              <a:t>笔。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88974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Redis</a:t>
            </a:r>
            <a:r>
              <a:rPr lang="zh-CN" altLang="en-US" dirty="0" smtClean="0"/>
              <a:t>不足之处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 dirty="0" smtClean="0"/>
              <a:t>1 </a:t>
            </a:r>
            <a:r>
              <a:rPr lang="zh-CN" altLang="en-US" sz="1800" dirty="0" smtClean="0"/>
              <a:t>支持事务，将多个命令打包执行，但是任一命令有语法错误或</a:t>
            </a:r>
            <a:r>
              <a:rPr lang="en-US" altLang="zh-CN" sz="1800" dirty="0" smtClean="0"/>
              <a:t>key-value</a:t>
            </a:r>
            <a:r>
              <a:rPr lang="zh-CN" altLang="en-US" sz="1800" dirty="0" smtClean="0"/>
              <a:t>数据类型错误照常运行</a:t>
            </a:r>
          </a:p>
          <a:p>
            <a:pPr marL="0" indent="0">
              <a:buNone/>
            </a:pPr>
            <a:r>
              <a:rPr lang="en-US" altLang="zh-CN" sz="1800" dirty="0" smtClean="0"/>
              <a:t>2 </a:t>
            </a:r>
            <a:r>
              <a:rPr lang="zh-CN" altLang="en-US" sz="1800" dirty="0" smtClean="0"/>
              <a:t>数据结构不支持嵌套其他数据结构，比如类型为</a:t>
            </a:r>
            <a:r>
              <a:rPr lang="en-US" altLang="zh-CN" sz="1800" dirty="0" smtClean="0"/>
              <a:t>list</a:t>
            </a:r>
            <a:r>
              <a:rPr lang="zh-CN" altLang="en-US" sz="1800" dirty="0" smtClean="0"/>
              <a:t>的</a:t>
            </a:r>
            <a:r>
              <a:rPr lang="en-US" altLang="zh-CN" sz="1800" dirty="0" smtClean="0"/>
              <a:t>value</a:t>
            </a:r>
            <a:r>
              <a:rPr lang="zh-CN" altLang="en-US" sz="1800" dirty="0" smtClean="0"/>
              <a:t>不能再嵌套一个</a:t>
            </a:r>
            <a:r>
              <a:rPr lang="en-US" altLang="zh-CN" sz="1800" dirty="0" smtClean="0"/>
              <a:t>list</a:t>
            </a:r>
            <a:r>
              <a:rPr lang="zh-CN" altLang="en-US" sz="1800" dirty="0" smtClean="0"/>
              <a:t>。</a:t>
            </a:r>
          </a:p>
          <a:p>
            <a:pPr marL="0" indent="0">
              <a:buNone/>
            </a:pPr>
            <a:r>
              <a:rPr lang="en-US" altLang="zh-CN" sz="1800" dirty="0" smtClean="0"/>
              <a:t>3 </a:t>
            </a:r>
            <a:r>
              <a:rPr lang="zh-CN" altLang="en-US" sz="1800" dirty="0" smtClean="0"/>
              <a:t>单线程模型处理所客户请求的命令。对高并发支持不是很好</a:t>
            </a:r>
          </a:p>
          <a:p>
            <a:pPr marL="0" indent="0">
              <a:buNone/>
            </a:pPr>
            <a:r>
              <a:rPr lang="en-US" altLang="zh-CN" sz="1800" dirty="0" smtClean="0"/>
              <a:t>4 </a:t>
            </a:r>
            <a:r>
              <a:rPr lang="zh-CN" altLang="en-US" sz="1800" dirty="0" smtClean="0"/>
              <a:t>主从做冗余备份时，主机迭机后，不能从多个从机中自动选举出主机</a:t>
            </a:r>
          </a:p>
          <a:p>
            <a:pPr marL="0" indent="0">
              <a:buNone/>
            </a:pPr>
            <a:r>
              <a:rPr lang="en-US" altLang="zh-CN" sz="1800" dirty="0" smtClean="0"/>
              <a:t>5 </a:t>
            </a:r>
            <a:r>
              <a:rPr lang="zh-CN" altLang="en-US" sz="1800" dirty="0" smtClean="0"/>
              <a:t>当</a:t>
            </a:r>
            <a:r>
              <a:rPr lang="en-US" altLang="zh-CN" sz="1800" dirty="0" err="1" smtClean="0"/>
              <a:t>Dump.rdb</a:t>
            </a:r>
            <a:r>
              <a:rPr lang="zh-CN" altLang="en-US" sz="1800" dirty="0" smtClean="0"/>
              <a:t>文件中没有日志文件</a:t>
            </a:r>
            <a:r>
              <a:rPr lang="en-US" altLang="zh-CN" sz="1800" dirty="0" err="1" smtClean="0"/>
              <a:t>appendonly.aof</a:t>
            </a:r>
            <a:r>
              <a:rPr lang="zh-CN" altLang="en-US" sz="1800" dirty="0" smtClean="0"/>
              <a:t>最新数据时，不能从日志文件的最新命令的当前位置处增量更新</a:t>
            </a:r>
            <a:r>
              <a:rPr lang="en-US" altLang="zh-CN" sz="1800" dirty="0" err="1" smtClean="0"/>
              <a:t>dump.rdb</a:t>
            </a:r>
            <a:r>
              <a:rPr lang="zh-CN" altLang="en-US" sz="1800" dirty="0" smtClean="0"/>
              <a:t>数据文件。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58316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Memcached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redis</a:t>
            </a:r>
            <a:r>
              <a:rPr lang="zh-CN" altLang="en-US" dirty="0" smtClean="0"/>
              <a:t>区别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600" dirty="0" err="1"/>
              <a:t>memcached</a:t>
            </a:r>
            <a:r>
              <a:rPr lang="en-US" altLang="zh-CN" sz="1600" dirty="0"/>
              <a:t> </a:t>
            </a:r>
            <a:r>
              <a:rPr lang="zh-CN" altLang="en-US" sz="1600" dirty="0"/>
              <a:t>是多线程</a:t>
            </a:r>
            <a:r>
              <a:rPr lang="en-US" altLang="zh-CN" sz="1600" dirty="0"/>
              <a:t>,</a:t>
            </a:r>
            <a:r>
              <a:rPr lang="zh-CN" altLang="en-US" sz="1600" dirty="0"/>
              <a:t>在计算一些统计数据时会因为锁的关系有一点点效率损耗</a:t>
            </a:r>
          </a:p>
          <a:p>
            <a:pPr marL="0" indent="0">
              <a:buNone/>
            </a:pPr>
            <a:r>
              <a:rPr lang="en-US" altLang="zh-CN" sz="1600" dirty="0" err="1"/>
              <a:t>redis</a:t>
            </a:r>
            <a:r>
              <a:rPr lang="en-US" altLang="zh-CN" sz="1600" dirty="0"/>
              <a:t> </a:t>
            </a:r>
            <a:r>
              <a:rPr lang="zh-CN" altLang="en-US" sz="1600" dirty="0"/>
              <a:t>是单线程的</a:t>
            </a:r>
            <a:r>
              <a:rPr lang="en-US" altLang="zh-CN" sz="1600" dirty="0"/>
              <a:t>,</a:t>
            </a:r>
            <a:r>
              <a:rPr lang="zh-CN" altLang="en-US" sz="1600" dirty="0"/>
              <a:t>作者认为内存的存储已经够快不需要多线程</a:t>
            </a:r>
            <a:r>
              <a:rPr lang="en-US" altLang="zh-CN" sz="1600" dirty="0"/>
              <a:t>. </a:t>
            </a:r>
            <a:r>
              <a:rPr lang="en-US" altLang="zh-CN" sz="1600" dirty="0" err="1"/>
              <a:t>redis</a:t>
            </a:r>
            <a:r>
              <a:rPr lang="zh-CN" altLang="en-US" sz="1600" dirty="0"/>
              <a:t>新开了线程做一些管理工作</a:t>
            </a:r>
            <a:r>
              <a:rPr lang="en-US" altLang="zh-CN" sz="1600" dirty="0"/>
              <a:t>,</a:t>
            </a:r>
            <a:r>
              <a:rPr lang="zh-CN" altLang="en-US" sz="1600" dirty="0"/>
              <a:t>如缓存失效</a:t>
            </a:r>
            <a:r>
              <a:rPr lang="en-US" altLang="zh-CN" sz="1600" dirty="0"/>
              <a:t>.</a:t>
            </a:r>
          </a:p>
          <a:p>
            <a:pPr marL="0" indent="0">
              <a:buNone/>
            </a:pPr>
            <a:r>
              <a:rPr lang="en-US" altLang="zh-CN" sz="1600" dirty="0" err="1"/>
              <a:t>memcached</a:t>
            </a:r>
            <a:r>
              <a:rPr lang="en-US" altLang="zh-CN" sz="1600" dirty="0"/>
              <a:t> </a:t>
            </a:r>
            <a:r>
              <a:rPr lang="zh-CN" altLang="en-US" sz="1600" dirty="0"/>
              <a:t>采用惰性失效</a:t>
            </a:r>
            <a:r>
              <a:rPr lang="en-US" altLang="zh-CN" sz="1600" dirty="0"/>
              <a:t>,</a:t>
            </a:r>
            <a:r>
              <a:rPr lang="zh-CN" altLang="en-US" sz="1600" dirty="0"/>
              <a:t>就是当</a:t>
            </a:r>
            <a:r>
              <a:rPr lang="en-US" altLang="zh-CN" sz="1600" dirty="0"/>
              <a:t>key</a:t>
            </a:r>
            <a:r>
              <a:rPr lang="zh-CN" altLang="en-US" sz="1600" dirty="0"/>
              <a:t>被访问的时候</a:t>
            </a:r>
            <a:r>
              <a:rPr lang="en-US" altLang="zh-CN" sz="1600" dirty="0"/>
              <a:t>,</a:t>
            </a:r>
            <a:r>
              <a:rPr lang="zh-CN" altLang="en-US" sz="1600" dirty="0"/>
              <a:t>去判断是否失效</a:t>
            </a:r>
            <a:r>
              <a:rPr lang="en-US" altLang="zh-CN" sz="1600" dirty="0"/>
              <a:t>,</a:t>
            </a:r>
            <a:r>
              <a:rPr lang="zh-CN" altLang="en-US" sz="1600" dirty="0"/>
              <a:t>如果</a:t>
            </a:r>
            <a:r>
              <a:rPr lang="en-US" altLang="zh-CN" sz="1600" dirty="0"/>
              <a:t>key</a:t>
            </a:r>
            <a:r>
              <a:rPr lang="zh-CN" altLang="en-US" sz="1600" dirty="0"/>
              <a:t>不被访问时</a:t>
            </a:r>
            <a:r>
              <a:rPr lang="en-US" altLang="zh-CN" sz="1600" dirty="0"/>
              <a:t>,</a:t>
            </a:r>
            <a:r>
              <a:rPr lang="zh-CN" altLang="en-US" sz="1600" dirty="0"/>
              <a:t>可能会长驻内存</a:t>
            </a:r>
            <a:r>
              <a:rPr lang="en-US" altLang="zh-CN" sz="1600" dirty="0"/>
              <a:t>,</a:t>
            </a:r>
            <a:r>
              <a:rPr lang="zh-CN" altLang="en-US" sz="1600" dirty="0"/>
              <a:t>直到内存不够时</a:t>
            </a:r>
            <a:r>
              <a:rPr lang="en-US" altLang="zh-CN" sz="1600" dirty="0"/>
              <a:t>,</a:t>
            </a:r>
            <a:r>
              <a:rPr lang="zh-CN" altLang="en-US" sz="1600" dirty="0"/>
              <a:t>去寻找低访问</a:t>
            </a:r>
            <a:r>
              <a:rPr lang="en-US" altLang="zh-CN" sz="1600" dirty="0"/>
              <a:t>key</a:t>
            </a:r>
            <a:r>
              <a:rPr lang="zh-CN" altLang="en-US" sz="1600" dirty="0"/>
              <a:t>腾空间的时候</a:t>
            </a:r>
            <a:r>
              <a:rPr lang="en-US" altLang="zh-CN" sz="1600" dirty="0"/>
              <a:t>,</a:t>
            </a:r>
            <a:r>
              <a:rPr lang="zh-CN" altLang="en-US" sz="1600" dirty="0"/>
              <a:t>才会被替换</a:t>
            </a:r>
            <a:r>
              <a:rPr lang="en-US" altLang="zh-CN" sz="1600" dirty="0"/>
              <a:t>.</a:t>
            </a:r>
            <a:r>
              <a:rPr lang="zh-CN" altLang="en-US" sz="1600" dirty="0"/>
              <a:t>而</a:t>
            </a:r>
            <a:r>
              <a:rPr lang="en-US" altLang="zh-CN" sz="1600" dirty="0" err="1"/>
              <a:t>memcached</a:t>
            </a:r>
            <a:r>
              <a:rPr lang="zh-CN" altLang="en-US" sz="1600" dirty="0"/>
              <a:t>在判断哪些</a:t>
            </a:r>
            <a:r>
              <a:rPr lang="en-US" altLang="zh-CN" sz="1600" dirty="0"/>
              <a:t>key</a:t>
            </a:r>
            <a:r>
              <a:rPr lang="zh-CN" altLang="en-US" sz="1600" dirty="0"/>
              <a:t>不用</a:t>
            </a:r>
            <a:r>
              <a:rPr lang="en-US" altLang="zh-CN" sz="1600" dirty="0"/>
              <a:t>,</a:t>
            </a:r>
            <a:r>
              <a:rPr lang="zh-CN" altLang="en-US" sz="1600" dirty="0"/>
              <a:t>或用的少的逻辑</a:t>
            </a:r>
            <a:r>
              <a:rPr lang="en-US" altLang="zh-CN" sz="1600" dirty="0"/>
              <a:t>,</a:t>
            </a:r>
            <a:r>
              <a:rPr lang="zh-CN" altLang="en-US" sz="1600" dirty="0"/>
              <a:t>并不是我们想象的那样</a:t>
            </a:r>
            <a:r>
              <a:rPr lang="en-US" altLang="zh-CN" sz="1600" dirty="0"/>
              <a:t>,</a:t>
            </a:r>
            <a:r>
              <a:rPr lang="zh-CN" altLang="en-US" sz="1600" dirty="0"/>
              <a:t>把所有</a:t>
            </a:r>
            <a:r>
              <a:rPr lang="en-US" altLang="zh-CN" sz="1600" dirty="0"/>
              <a:t>key</a:t>
            </a:r>
            <a:r>
              <a:rPr lang="zh-CN" altLang="en-US" sz="1600" dirty="0"/>
              <a:t>进行比较</a:t>
            </a:r>
            <a:r>
              <a:rPr lang="en-US" altLang="zh-CN" sz="1600" dirty="0"/>
              <a:t>,</a:t>
            </a:r>
            <a:r>
              <a:rPr lang="zh-CN" altLang="en-US" sz="1600" dirty="0"/>
              <a:t>因为</a:t>
            </a:r>
            <a:r>
              <a:rPr lang="en-US" altLang="zh-CN" sz="1600" dirty="0" err="1"/>
              <a:t>memcached</a:t>
            </a:r>
            <a:r>
              <a:rPr lang="zh-CN" altLang="en-US" sz="1600" dirty="0"/>
              <a:t>把</a:t>
            </a:r>
            <a:r>
              <a:rPr lang="en-US" altLang="zh-CN" sz="1600" dirty="0"/>
              <a:t>key</a:t>
            </a:r>
            <a:r>
              <a:rPr lang="zh-CN" altLang="en-US" sz="1600" dirty="0"/>
              <a:t>分存在不同的块里面</a:t>
            </a:r>
            <a:r>
              <a:rPr lang="en-US" altLang="zh-CN" sz="1600" dirty="0"/>
              <a:t>,</a:t>
            </a:r>
            <a:r>
              <a:rPr lang="zh-CN" altLang="en-US" sz="1600" dirty="0"/>
              <a:t>所以他的比较是比较一个块内哪些</a:t>
            </a:r>
            <a:r>
              <a:rPr lang="en-US" altLang="zh-CN" sz="1600" dirty="0"/>
              <a:t>key</a:t>
            </a:r>
            <a:r>
              <a:rPr lang="zh-CN" altLang="en-US" sz="1600" dirty="0"/>
              <a:t>用的少</a:t>
            </a:r>
            <a:r>
              <a:rPr lang="en-US" altLang="zh-CN" sz="1600" dirty="0"/>
              <a:t>,</a:t>
            </a:r>
            <a:r>
              <a:rPr lang="zh-CN" altLang="en-US" sz="1600" dirty="0"/>
              <a:t>所以并不准确</a:t>
            </a:r>
            <a:r>
              <a:rPr lang="en-US" altLang="zh-CN" sz="1600" dirty="0"/>
              <a:t>,</a:t>
            </a:r>
          </a:p>
          <a:p>
            <a:pPr marL="0" indent="0">
              <a:buNone/>
            </a:pPr>
            <a:r>
              <a:rPr lang="zh-CN" altLang="en-US" sz="1600" dirty="0"/>
              <a:t>所以用</a:t>
            </a:r>
            <a:r>
              <a:rPr lang="en-US" altLang="zh-CN" sz="1600" dirty="0" err="1"/>
              <a:t>memcached</a:t>
            </a:r>
            <a:r>
              <a:rPr lang="zh-CN" altLang="en-US" sz="1600" dirty="0"/>
              <a:t>一定要保证</a:t>
            </a:r>
            <a:r>
              <a:rPr lang="en-US" altLang="zh-CN" sz="1600" dirty="0"/>
              <a:t>key</a:t>
            </a:r>
            <a:r>
              <a:rPr lang="zh-CN" altLang="en-US" sz="1600" dirty="0"/>
              <a:t>的一致性</a:t>
            </a:r>
            <a:r>
              <a:rPr lang="en-US" altLang="zh-CN" sz="1600" dirty="0"/>
              <a:t>.</a:t>
            </a:r>
          </a:p>
          <a:p>
            <a:pPr marL="0" indent="0">
              <a:buNone/>
            </a:pPr>
            <a:r>
              <a:rPr lang="en-US" altLang="zh-CN" sz="1600" dirty="0" err="1"/>
              <a:t>redis</a:t>
            </a:r>
            <a:r>
              <a:rPr lang="zh-CN" altLang="en-US" sz="1600" dirty="0"/>
              <a:t>有多种方式管理失效缓存</a:t>
            </a:r>
            <a:r>
              <a:rPr lang="en-US" altLang="zh-CN" sz="1600" dirty="0"/>
              <a:t>,</a:t>
            </a:r>
            <a:r>
              <a:rPr lang="zh-CN" altLang="en-US" sz="1600" dirty="0"/>
              <a:t>有惰性方式</a:t>
            </a:r>
            <a:r>
              <a:rPr lang="en-US" altLang="zh-CN" sz="1600" dirty="0"/>
              <a:t>,</a:t>
            </a:r>
            <a:r>
              <a:rPr lang="zh-CN" altLang="en-US" sz="1600" dirty="0"/>
              <a:t>有随机清除小数据</a:t>
            </a:r>
            <a:r>
              <a:rPr lang="en-US" altLang="zh-CN" sz="1600" dirty="0"/>
              <a:t>,</a:t>
            </a:r>
            <a:r>
              <a:rPr lang="zh-CN" altLang="en-US" sz="1600" dirty="0"/>
              <a:t>还有在内存不够时</a:t>
            </a:r>
            <a:r>
              <a:rPr lang="en-US" altLang="zh-CN" sz="1600" dirty="0"/>
              <a:t>,</a:t>
            </a:r>
            <a:r>
              <a:rPr lang="zh-CN" altLang="en-US" sz="1600" dirty="0"/>
              <a:t>暴力淘汰</a:t>
            </a:r>
          </a:p>
        </p:txBody>
      </p:sp>
    </p:spTree>
    <p:extLst>
      <p:ext uri="{BB962C8B-B14F-4D97-AF65-F5344CB8AC3E}">
        <p14:creationId xmlns:p14="http://schemas.microsoft.com/office/powerpoint/2010/main" val="15623770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Memcached</a:t>
            </a:r>
            <a:r>
              <a:rPr lang="zh-CN" altLang="en-US" dirty="0"/>
              <a:t>和</a:t>
            </a:r>
            <a:r>
              <a:rPr lang="en-US" altLang="zh-CN" dirty="0" err="1"/>
              <a:t>redis</a:t>
            </a:r>
            <a:r>
              <a:rPr lang="zh-CN" altLang="en-US" dirty="0"/>
              <a:t>区别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600" dirty="0" err="1"/>
              <a:t>redis</a:t>
            </a:r>
            <a:r>
              <a:rPr lang="zh-CN" altLang="en-US" sz="1600" dirty="0"/>
              <a:t>有两种永久化机制</a:t>
            </a:r>
            <a:r>
              <a:rPr lang="en-US" altLang="zh-CN" sz="1600" dirty="0"/>
              <a:t>,</a:t>
            </a:r>
            <a:r>
              <a:rPr lang="zh-CN" altLang="en-US" sz="1600" dirty="0"/>
              <a:t>但是都有些问题</a:t>
            </a:r>
          </a:p>
          <a:p>
            <a:pPr marL="0" indent="0">
              <a:buNone/>
            </a:pPr>
            <a:r>
              <a:rPr lang="zh-CN" altLang="en-US" sz="1600" dirty="0"/>
              <a:t>一种是内存快照</a:t>
            </a:r>
            <a:r>
              <a:rPr lang="en-US" altLang="zh-CN" sz="1600" dirty="0"/>
              <a:t>,</a:t>
            </a:r>
            <a:r>
              <a:rPr lang="zh-CN" altLang="en-US" sz="1600" dirty="0"/>
              <a:t>原理是复制一分内存</a:t>
            </a:r>
            <a:r>
              <a:rPr lang="en-US" altLang="zh-CN" sz="1600" dirty="0"/>
              <a:t>,</a:t>
            </a:r>
            <a:r>
              <a:rPr lang="zh-CN" altLang="en-US" sz="1600" dirty="0"/>
              <a:t>然后写入硬盘</a:t>
            </a:r>
            <a:r>
              <a:rPr lang="en-US" altLang="zh-CN" sz="1600" dirty="0"/>
              <a:t>,</a:t>
            </a:r>
            <a:r>
              <a:rPr lang="zh-CN" altLang="en-US" sz="1600" dirty="0"/>
              <a:t>这要求</a:t>
            </a:r>
            <a:r>
              <a:rPr lang="en-US" altLang="zh-CN" sz="1600" dirty="0" err="1"/>
              <a:t>redis</a:t>
            </a:r>
            <a:r>
              <a:rPr lang="zh-CN" altLang="en-US" sz="1600" dirty="0"/>
              <a:t>的内存使用量不能超过物理内存的</a:t>
            </a:r>
            <a:r>
              <a:rPr lang="en-US" altLang="zh-CN" sz="1600" dirty="0"/>
              <a:t>1/2,</a:t>
            </a:r>
            <a:r>
              <a:rPr lang="zh-CN" altLang="en-US" sz="1600" dirty="0"/>
              <a:t>如果超过会去用虚拟内存</a:t>
            </a:r>
            <a:r>
              <a:rPr lang="en-US" altLang="zh-CN" sz="1600" dirty="0"/>
              <a:t>.</a:t>
            </a:r>
            <a:r>
              <a:rPr lang="zh-CN" altLang="en-US" sz="1600" dirty="0"/>
              <a:t>另外在快照过程中</a:t>
            </a:r>
            <a:r>
              <a:rPr lang="en-US" altLang="zh-CN" sz="1600" dirty="0"/>
              <a:t>,</a:t>
            </a:r>
            <a:r>
              <a:rPr lang="zh-CN" altLang="en-US" sz="1600" dirty="0"/>
              <a:t>会有大量读写</a:t>
            </a:r>
            <a:r>
              <a:rPr lang="en-US" altLang="zh-CN" sz="1600" dirty="0"/>
              <a:t>,</a:t>
            </a:r>
            <a:r>
              <a:rPr lang="zh-CN" altLang="en-US" sz="1600" dirty="0"/>
              <a:t>如果系统崩了</a:t>
            </a:r>
            <a:r>
              <a:rPr lang="en-US" altLang="zh-CN" sz="1600" dirty="0"/>
              <a:t>,</a:t>
            </a:r>
            <a:r>
              <a:rPr lang="zh-CN" altLang="en-US" sz="1600" dirty="0"/>
              <a:t>就会有数据丢失</a:t>
            </a:r>
            <a:r>
              <a:rPr lang="en-US" altLang="zh-CN" sz="1600" dirty="0"/>
              <a:t>.</a:t>
            </a:r>
          </a:p>
          <a:p>
            <a:pPr marL="0" indent="0">
              <a:buNone/>
            </a:pPr>
            <a:r>
              <a:rPr lang="zh-CN" altLang="en-US" sz="1600" dirty="0"/>
              <a:t>第二是读写日志</a:t>
            </a:r>
            <a:r>
              <a:rPr lang="en-US" altLang="zh-CN" sz="1600" dirty="0"/>
              <a:t>,</a:t>
            </a:r>
            <a:r>
              <a:rPr lang="zh-CN" altLang="en-US" sz="1600" dirty="0"/>
              <a:t>跟数据库一样</a:t>
            </a:r>
            <a:r>
              <a:rPr lang="en-US" altLang="zh-CN" sz="1600" dirty="0"/>
              <a:t>,</a:t>
            </a:r>
            <a:r>
              <a:rPr lang="zh-CN" altLang="en-US" sz="1600" dirty="0"/>
              <a:t>但这样就会有</a:t>
            </a:r>
            <a:r>
              <a:rPr lang="en-US" altLang="zh-CN" sz="1600" dirty="0"/>
              <a:t>IO</a:t>
            </a:r>
            <a:r>
              <a:rPr lang="zh-CN" altLang="en-US" sz="1600" dirty="0"/>
              <a:t>操作</a:t>
            </a:r>
            <a:r>
              <a:rPr lang="en-US" altLang="zh-CN" sz="1600" dirty="0"/>
              <a:t>,</a:t>
            </a:r>
            <a:r>
              <a:rPr lang="zh-CN" altLang="en-US" sz="1600" dirty="0"/>
              <a:t>并且日志文件也会很大</a:t>
            </a:r>
            <a:r>
              <a:rPr lang="en-US" altLang="zh-CN" sz="1600" dirty="0"/>
              <a:t>,</a:t>
            </a:r>
            <a:r>
              <a:rPr lang="zh-CN" altLang="en-US" sz="1600" dirty="0"/>
              <a:t>恢复会比较慢</a:t>
            </a:r>
            <a:r>
              <a:rPr lang="en-US" altLang="zh-CN" sz="1600" dirty="0"/>
              <a:t>.</a:t>
            </a:r>
            <a:r>
              <a:rPr lang="zh-CN" altLang="en-US" sz="1600" dirty="0"/>
              <a:t>整体性能上也会比较慢</a:t>
            </a:r>
          </a:p>
          <a:p>
            <a:pPr marL="0" indent="0">
              <a:buNone/>
            </a:pPr>
            <a:endParaRPr lang="zh-CN" altLang="en-US" sz="1600" dirty="0"/>
          </a:p>
          <a:p>
            <a:pPr marL="0" indent="0">
              <a:buNone/>
            </a:pPr>
            <a:r>
              <a:rPr lang="en-US" altLang="zh-CN" sz="1600" dirty="0" err="1"/>
              <a:t>memcached</a:t>
            </a:r>
            <a:r>
              <a:rPr lang="en-US" altLang="zh-CN" sz="1600" dirty="0"/>
              <a:t> </a:t>
            </a:r>
            <a:r>
              <a:rPr lang="zh-CN" altLang="en-US" sz="1600" dirty="0"/>
              <a:t>在内存分配上</a:t>
            </a:r>
            <a:r>
              <a:rPr lang="en-US" altLang="zh-CN" sz="1600" dirty="0"/>
              <a:t>,</a:t>
            </a:r>
            <a:r>
              <a:rPr lang="zh-CN" altLang="en-US" sz="1600" dirty="0"/>
              <a:t>是先申请内存</a:t>
            </a:r>
            <a:r>
              <a:rPr lang="en-US" altLang="zh-CN" sz="1600" dirty="0"/>
              <a:t>,</a:t>
            </a:r>
            <a:r>
              <a:rPr lang="zh-CN" altLang="en-US" sz="1600" dirty="0"/>
              <a:t>再使用</a:t>
            </a:r>
            <a:r>
              <a:rPr lang="en-US" altLang="zh-CN" sz="1600" dirty="0"/>
              <a:t>,</a:t>
            </a:r>
            <a:r>
              <a:rPr lang="zh-CN" altLang="en-US" sz="1600" dirty="0"/>
              <a:t>为了是省去时时申请内存所耗费的效率</a:t>
            </a:r>
            <a:r>
              <a:rPr lang="en-US" altLang="zh-CN" sz="1600" dirty="0"/>
              <a:t>,</a:t>
            </a:r>
            <a:r>
              <a:rPr lang="zh-CN" altLang="en-US" sz="1600" dirty="0"/>
              <a:t>但这样会有极大的内存浪费</a:t>
            </a:r>
            <a:r>
              <a:rPr lang="en-US" altLang="zh-CN" sz="1600" dirty="0"/>
              <a:t>,</a:t>
            </a:r>
            <a:r>
              <a:rPr lang="en-US" altLang="zh-CN" sz="1600" dirty="0" err="1"/>
              <a:t>memcached</a:t>
            </a:r>
            <a:r>
              <a:rPr lang="zh-CN" altLang="en-US" sz="1600" dirty="0"/>
              <a:t>在启动时</a:t>
            </a:r>
            <a:r>
              <a:rPr lang="en-US" altLang="zh-CN" sz="1600" dirty="0"/>
              <a:t>,</a:t>
            </a:r>
          </a:p>
          <a:p>
            <a:pPr marL="0" indent="0">
              <a:buNone/>
            </a:pPr>
            <a:r>
              <a:rPr lang="zh-CN" altLang="en-US" sz="1600" dirty="0"/>
              <a:t>就划分了大小为</a:t>
            </a:r>
            <a:r>
              <a:rPr lang="en-US" altLang="zh-CN" sz="1600" dirty="0"/>
              <a:t>1M</a:t>
            </a:r>
            <a:r>
              <a:rPr lang="zh-CN" altLang="en-US" sz="1600" dirty="0"/>
              <a:t>块</a:t>
            </a:r>
            <a:r>
              <a:rPr lang="en-US" altLang="zh-CN" sz="1600" dirty="0"/>
              <a:t>,</a:t>
            </a:r>
            <a:r>
              <a:rPr lang="zh-CN" altLang="en-US" sz="1600" dirty="0"/>
              <a:t>而在块里又分成了几</a:t>
            </a:r>
            <a:r>
              <a:rPr lang="en-US" altLang="zh-CN" sz="1600" dirty="0"/>
              <a:t>k,</a:t>
            </a:r>
            <a:r>
              <a:rPr lang="zh-CN" altLang="en-US" sz="1600" dirty="0"/>
              <a:t>几十</a:t>
            </a:r>
            <a:r>
              <a:rPr lang="en-US" altLang="zh-CN" sz="1600" dirty="0"/>
              <a:t>k</a:t>
            </a:r>
            <a:r>
              <a:rPr lang="zh-CN" altLang="en-US" sz="1600" dirty="0"/>
              <a:t>不等的小块</a:t>
            </a:r>
            <a:r>
              <a:rPr lang="en-US" altLang="zh-CN" sz="1600" dirty="0"/>
              <a:t>,</a:t>
            </a:r>
            <a:r>
              <a:rPr lang="zh-CN" altLang="en-US" sz="1600" dirty="0"/>
              <a:t>使用时</a:t>
            </a:r>
            <a:r>
              <a:rPr lang="en-US" altLang="zh-CN" sz="1600" dirty="0"/>
              <a:t>,</a:t>
            </a:r>
            <a:r>
              <a:rPr lang="zh-CN" altLang="en-US" sz="1600" dirty="0"/>
              <a:t>按照</a:t>
            </a:r>
            <a:r>
              <a:rPr lang="en-US" altLang="zh-CN" sz="1600" dirty="0"/>
              <a:t>value</a:t>
            </a:r>
            <a:r>
              <a:rPr lang="zh-CN" altLang="en-US" sz="1600" dirty="0"/>
              <a:t>的大小去适合这些块</a:t>
            </a:r>
            <a:r>
              <a:rPr lang="en-US" altLang="zh-CN" sz="1600" dirty="0"/>
              <a:t>,</a:t>
            </a:r>
            <a:r>
              <a:rPr lang="zh-CN" altLang="en-US" sz="1600" dirty="0"/>
              <a:t>如果</a:t>
            </a:r>
            <a:r>
              <a:rPr lang="en-US" altLang="zh-CN" sz="1600" dirty="0"/>
              <a:t>value</a:t>
            </a:r>
            <a:r>
              <a:rPr lang="zh-CN" altLang="en-US" sz="1600" dirty="0"/>
              <a:t>的大小差不多的话</a:t>
            </a:r>
            <a:r>
              <a:rPr lang="en-US" altLang="zh-CN" sz="1600" dirty="0"/>
              <a:t>,</a:t>
            </a:r>
            <a:r>
              <a:rPr lang="zh-CN" altLang="en-US" sz="1600" dirty="0"/>
              <a:t>那很多的块就会浪费掉了</a:t>
            </a:r>
            <a:r>
              <a:rPr lang="en-US" altLang="zh-CN" sz="1600" dirty="0"/>
              <a:t>.</a:t>
            </a:r>
          </a:p>
          <a:p>
            <a:pPr marL="0" indent="0">
              <a:buNone/>
            </a:pPr>
            <a:r>
              <a:rPr lang="zh-CN" altLang="en-US" sz="1600" dirty="0"/>
              <a:t>所以</a:t>
            </a:r>
            <a:r>
              <a:rPr lang="en-US" altLang="zh-CN" sz="1600" dirty="0" err="1"/>
              <a:t>memcached</a:t>
            </a:r>
            <a:r>
              <a:rPr lang="zh-CN" altLang="en-US" sz="1600" dirty="0"/>
              <a:t>采用空间换时间的方法</a:t>
            </a:r>
            <a:r>
              <a:rPr lang="en-US" altLang="zh-CN" sz="1600" dirty="0"/>
              <a:t>,</a:t>
            </a:r>
            <a:r>
              <a:rPr lang="zh-CN" altLang="en-US" sz="1600" dirty="0"/>
              <a:t>却会占用大量内存</a:t>
            </a:r>
            <a:r>
              <a:rPr lang="en-US" altLang="zh-CN" sz="1600" dirty="0"/>
              <a:t>.</a:t>
            </a:r>
          </a:p>
          <a:p>
            <a:pPr marL="0" indent="0">
              <a:buNone/>
            </a:pP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err="1"/>
              <a:t>redis</a:t>
            </a:r>
            <a:r>
              <a:rPr lang="zh-CN" altLang="en-US" sz="1600" dirty="0"/>
              <a:t>是时实申请内存</a:t>
            </a:r>
            <a:r>
              <a:rPr lang="en-US" altLang="zh-CN" sz="1600" dirty="0"/>
              <a:t>,</a:t>
            </a:r>
            <a:r>
              <a:rPr lang="zh-CN" altLang="en-US" sz="1600" dirty="0"/>
              <a:t>所以不会有什么内存浪费</a:t>
            </a:r>
            <a:r>
              <a:rPr lang="en-US" altLang="zh-CN" sz="1600" dirty="0"/>
              <a:t>,</a:t>
            </a:r>
            <a:r>
              <a:rPr lang="zh-CN" altLang="en-US" sz="1600" dirty="0"/>
              <a:t>但速度上肯定是要比</a:t>
            </a:r>
            <a:r>
              <a:rPr lang="en-US" altLang="zh-CN" sz="1600" dirty="0" err="1"/>
              <a:t>memcached</a:t>
            </a:r>
            <a:r>
              <a:rPr lang="zh-CN" altLang="en-US" sz="1600" dirty="0"/>
              <a:t>慢一点</a:t>
            </a:r>
          </a:p>
          <a:p>
            <a:pPr marL="0" indent="0">
              <a:buNone/>
            </a:pPr>
            <a:r>
              <a:rPr lang="en-US" altLang="zh-CN" sz="1600" dirty="0" err="1"/>
              <a:t>memcached</a:t>
            </a:r>
            <a:r>
              <a:rPr lang="zh-CN" altLang="en-US" sz="1600" dirty="0"/>
              <a:t>有分布式</a:t>
            </a:r>
            <a:r>
              <a:rPr lang="en-US" altLang="zh-CN" sz="1600" dirty="0" err="1"/>
              <a:t>api,redis</a:t>
            </a:r>
            <a:r>
              <a:rPr lang="zh-CN" altLang="en-US" sz="1600" dirty="0"/>
              <a:t>要自己写</a:t>
            </a:r>
          </a:p>
        </p:txBody>
      </p:sp>
    </p:spTree>
    <p:extLst>
      <p:ext uri="{BB962C8B-B14F-4D97-AF65-F5344CB8AC3E}">
        <p14:creationId xmlns:p14="http://schemas.microsoft.com/office/powerpoint/2010/main" val="10993920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持久化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快照</a:t>
            </a:r>
            <a:endParaRPr lang="en-US" altLang="zh-CN" dirty="0" smtClean="0"/>
          </a:p>
          <a:p>
            <a:r>
              <a:rPr lang="en-US" altLang="zh-CN" dirty="0" smtClean="0"/>
              <a:t>AOF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31786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持久化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00" dirty="0"/>
              <a:t>RDB</a:t>
            </a:r>
            <a:r>
              <a:rPr lang="zh-CN" altLang="en-US" sz="1600" dirty="0"/>
              <a:t>持久化是指在指定的时间间隔内将内存中的数据集快照写入磁盘，实际操作过程是</a:t>
            </a:r>
            <a:r>
              <a:rPr lang="en-US" altLang="zh-CN" sz="1600" dirty="0"/>
              <a:t>fork</a:t>
            </a:r>
            <a:r>
              <a:rPr lang="zh-CN" altLang="en-US" sz="1600" dirty="0"/>
              <a:t>一个子进程，先将数据集写入临时文件，写入成功后，再替换之前的文件，用二进制压缩存储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endParaRPr lang="en-US" altLang="zh-CN" sz="1600" dirty="0"/>
          </a:p>
          <a:p>
            <a:endParaRPr lang="en-US" altLang="zh-CN" sz="1600" dirty="0" smtClean="0"/>
          </a:p>
          <a:p>
            <a:endParaRPr lang="en-US" altLang="zh-CN" sz="1600" dirty="0"/>
          </a:p>
          <a:p>
            <a:endParaRPr lang="en-US" altLang="zh-CN" sz="1600" dirty="0" smtClean="0"/>
          </a:p>
          <a:p>
            <a:endParaRPr lang="zh-CN" altLang="en-US" sz="1600" dirty="0"/>
          </a:p>
          <a:p>
            <a:endParaRPr lang="en-US" altLang="zh-CN" sz="1600" dirty="0" smtClean="0"/>
          </a:p>
          <a:p>
            <a:endParaRPr lang="en-US" altLang="zh-CN" sz="1600" dirty="0"/>
          </a:p>
          <a:p>
            <a:endParaRPr lang="en-US" altLang="zh-CN" sz="1600" dirty="0" smtClean="0"/>
          </a:p>
          <a:p>
            <a:endParaRPr lang="en-US" altLang="zh-CN" sz="1600" dirty="0"/>
          </a:p>
          <a:p>
            <a:r>
              <a:rPr lang="en-US" altLang="zh-CN" sz="1600" dirty="0" smtClean="0"/>
              <a:t>AOF</a:t>
            </a:r>
            <a:r>
              <a:rPr lang="zh-CN" altLang="en-US" sz="1600" dirty="0"/>
              <a:t>持久化以日志的形式记录服务器所处理的每一个写、删除操作，查询操作不会记录，以文本的方式记录，可以打开文件看到详细的操作记录。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770" y="2563384"/>
            <a:ext cx="4953000" cy="244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387" y="5925322"/>
            <a:ext cx="523875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5540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快照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600" dirty="0"/>
              <a:t>备份数据到磁盘</a:t>
            </a:r>
            <a:r>
              <a:rPr lang="en-US" altLang="zh-CN" sz="1600" dirty="0"/>
              <a:t>(</a:t>
            </a:r>
            <a:r>
              <a:rPr lang="zh-CN" altLang="en-US" sz="1600" dirty="0"/>
              <a:t>快照</a:t>
            </a:r>
            <a:r>
              <a:rPr lang="en-US" altLang="zh-CN" sz="1600" dirty="0"/>
              <a:t>)[ snapshotting(</a:t>
            </a:r>
            <a:r>
              <a:rPr lang="zh-CN" altLang="en-US" sz="1600" dirty="0"/>
              <a:t>快照</a:t>
            </a:r>
            <a:r>
              <a:rPr lang="en-US" altLang="zh-CN" sz="1600" dirty="0"/>
              <a:t>)</a:t>
            </a:r>
            <a:r>
              <a:rPr lang="zh-CN" altLang="en-US" sz="1600" dirty="0"/>
              <a:t>也是默认方式</a:t>
            </a:r>
            <a:r>
              <a:rPr lang="en-US" altLang="zh-CN" sz="1600" dirty="0"/>
              <a:t>] </a:t>
            </a:r>
          </a:p>
          <a:p>
            <a:r>
              <a:rPr lang="en-US" altLang="zh-CN" sz="1600" dirty="0"/>
              <a:t>save 900 1 #900</a:t>
            </a:r>
            <a:r>
              <a:rPr lang="zh-CN" altLang="en-US" sz="1600" dirty="0"/>
              <a:t>秒内如果超过</a:t>
            </a:r>
            <a:r>
              <a:rPr lang="en-US" altLang="zh-CN" sz="1600" dirty="0"/>
              <a:t>1</a:t>
            </a:r>
            <a:r>
              <a:rPr lang="zh-CN" altLang="en-US" sz="1600" dirty="0"/>
              <a:t>个</a:t>
            </a:r>
            <a:r>
              <a:rPr lang="en-US" altLang="zh-CN" sz="1600" dirty="0"/>
              <a:t>key</a:t>
            </a:r>
            <a:r>
              <a:rPr lang="zh-CN" altLang="en-US" sz="1600" dirty="0"/>
              <a:t>被修改</a:t>
            </a:r>
            <a:r>
              <a:rPr lang="en-US" altLang="zh-CN" sz="1600" dirty="0"/>
              <a:t>,</a:t>
            </a:r>
            <a:r>
              <a:rPr lang="zh-CN" altLang="en-US" sz="1600" dirty="0"/>
              <a:t>则发起快照保存</a:t>
            </a:r>
          </a:p>
          <a:p>
            <a:r>
              <a:rPr lang="en-US" altLang="zh-CN" sz="1600" dirty="0"/>
              <a:t>save 300 10 #300</a:t>
            </a:r>
            <a:r>
              <a:rPr lang="zh-CN" altLang="en-US" sz="1600" dirty="0"/>
              <a:t>秒内容如超过</a:t>
            </a:r>
            <a:r>
              <a:rPr lang="en-US" altLang="zh-CN" sz="1600" dirty="0"/>
              <a:t>10</a:t>
            </a:r>
            <a:r>
              <a:rPr lang="zh-CN" altLang="en-US" sz="1600" dirty="0"/>
              <a:t>个</a:t>
            </a:r>
            <a:r>
              <a:rPr lang="en-US" altLang="zh-CN" sz="1600" dirty="0"/>
              <a:t>key</a:t>
            </a:r>
            <a:r>
              <a:rPr lang="zh-CN" altLang="en-US" sz="1600" dirty="0"/>
              <a:t>被修改</a:t>
            </a:r>
            <a:r>
              <a:rPr lang="en-US" altLang="zh-CN" sz="1600" dirty="0"/>
              <a:t>,</a:t>
            </a:r>
            <a:r>
              <a:rPr lang="zh-CN" altLang="en-US" sz="1600" dirty="0"/>
              <a:t>则发起快照保存</a:t>
            </a:r>
          </a:p>
          <a:p>
            <a:r>
              <a:rPr lang="en-US" altLang="zh-CN" sz="1600" dirty="0"/>
              <a:t>save 60 10000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89109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AOF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600" dirty="0"/>
              <a:t>记录操作命令</a:t>
            </a:r>
            <a:r>
              <a:rPr lang="en-US" altLang="zh-CN" sz="1600" dirty="0"/>
              <a:t>[ Append-only file(</a:t>
            </a:r>
            <a:r>
              <a:rPr lang="zh-CN" altLang="en-US" sz="1600" dirty="0"/>
              <a:t>缩写</a:t>
            </a:r>
            <a:r>
              <a:rPr lang="en-US" altLang="zh-CN" sz="1600" dirty="0" err="1"/>
              <a:t>aof</a:t>
            </a:r>
            <a:r>
              <a:rPr lang="en-US" altLang="zh-CN" sz="1600" dirty="0"/>
              <a:t>)</a:t>
            </a:r>
            <a:r>
              <a:rPr lang="zh-CN" altLang="en-US" sz="1600" dirty="0"/>
              <a:t>的方式</a:t>
            </a:r>
            <a:r>
              <a:rPr lang="en-US" altLang="zh-CN" sz="1600" dirty="0"/>
              <a:t>](</a:t>
            </a:r>
            <a:r>
              <a:rPr lang="zh-CN" altLang="en-US" sz="1600" dirty="0"/>
              <a:t>较安全持久化</a:t>
            </a:r>
            <a:r>
              <a:rPr lang="en-US" altLang="zh-CN" sz="1600" dirty="0"/>
              <a:t>) </a:t>
            </a:r>
          </a:p>
          <a:p>
            <a:r>
              <a:rPr lang="en-US" altLang="zh-CN" sz="1600" dirty="0" err="1"/>
              <a:t>appendonly</a:t>
            </a:r>
            <a:r>
              <a:rPr lang="en-US" altLang="zh-CN" sz="1600" dirty="0"/>
              <a:t> yes #</a:t>
            </a:r>
            <a:r>
              <a:rPr lang="zh-CN" altLang="en-US" sz="1600" dirty="0"/>
              <a:t>启用</a:t>
            </a:r>
            <a:r>
              <a:rPr lang="en-US" altLang="zh-CN" sz="1600" dirty="0" err="1"/>
              <a:t>aof</a:t>
            </a:r>
            <a:r>
              <a:rPr lang="en-US" altLang="zh-CN" sz="1600" dirty="0"/>
              <a:t> </a:t>
            </a:r>
            <a:r>
              <a:rPr lang="zh-CN" altLang="en-US" sz="1600" dirty="0"/>
              <a:t>持久化方式 </a:t>
            </a:r>
          </a:p>
          <a:p>
            <a:r>
              <a:rPr lang="en-US" altLang="zh-CN" sz="1600" dirty="0"/>
              <a:t># </a:t>
            </a:r>
            <a:r>
              <a:rPr lang="en-US" altLang="zh-CN" sz="1600" dirty="0" err="1"/>
              <a:t>appendfsync</a:t>
            </a:r>
            <a:r>
              <a:rPr lang="en-US" altLang="zh-CN" sz="1600" dirty="0"/>
              <a:t> always //</a:t>
            </a:r>
            <a:r>
              <a:rPr lang="zh-CN" altLang="en-US" sz="1600" dirty="0"/>
              <a:t>收到写命令就立即写入磁盘</a:t>
            </a:r>
            <a:r>
              <a:rPr lang="en-US" altLang="zh-CN" sz="1600" dirty="0"/>
              <a:t>,</a:t>
            </a:r>
            <a:r>
              <a:rPr lang="zh-CN" altLang="en-US" sz="1600" dirty="0"/>
              <a:t>最慢</a:t>
            </a:r>
            <a:r>
              <a:rPr lang="en-US" altLang="zh-CN" sz="1600" dirty="0"/>
              <a:t>,</a:t>
            </a:r>
            <a:r>
              <a:rPr lang="zh-CN" altLang="en-US" sz="1600" dirty="0"/>
              <a:t>但是保证完全的持久化 </a:t>
            </a:r>
          </a:p>
          <a:p>
            <a:r>
              <a:rPr lang="en-US" altLang="zh-CN" sz="1600" dirty="0" err="1"/>
              <a:t>appendfsync</a:t>
            </a:r>
            <a:r>
              <a:rPr lang="en-US" altLang="zh-CN" sz="1600" dirty="0"/>
              <a:t> </a:t>
            </a:r>
            <a:r>
              <a:rPr lang="en-US" altLang="zh-CN" sz="1600" dirty="0" err="1"/>
              <a:t>everysec</a:t>
            </a:r>
            <a:r>
              <a:rPr lang="en-US" altLang="zh-CN" sz="1600" dirty="0"/>
              <a:t> //</a:t>
            </a:r>
            <a:r>
              <a:rPr lang="zh-CN" altLang="en-US" sz="1600" dirty="0"/>
              <a:t>每秒钟写入磁盘一次</a:t>
            </a:r>
            <a:r>
              <a:rPr lang="en-US" altLang="zh-CN" sz="1600" dirty="0"/>
              <a:t>,</a:t>
            </a:r>
            <a:r>
              <a:rPr lang="zh-CN" altLang="en-US" sz="1600" dirty="0"/>
              <a:t>在性能和持久化方面做了很好的折中</a:t>
            </a:r>
          </a:p>
          <a:p>
            <a:r>
              <a:rPr lang="en-US" altLang="zh-CN" sz="1600" dirty="0"/>
              <a:t># </a:t>
            </a:r>
            <a:r>
              <a:rPr lang="en-US" altLang="zh-CN" sz="1600" dirty="0" err="1"/>
              <a:t>appendfsync</a:t>
            </a:r>
            <a:r>
              <a:rPr lang="en-US" altLang="zh-CN" sz="1600" dirty="0"/>
              <a:t> no //</a:t>
            </a:r>
            <a:r>
              <a:rPr lang="zh-CN" altLang="en-US" sz="1600" dirty="0"/>
              <a:t>完全依赖</a:t>
            </a:r>
            <a:r>
              <a:rPr lang="en-US" altLang="zh-CN" sz="1600" dirty="0" err="1"/>
              <a:t>os</a:t>
            </a:r>
            <a:r>
              <a:rPr lang="en-US" altLang="zh-CN" sz="1600" dirty="0"/>
              <a:t>,</a:t>
            </a:r>
            <a:r>
              <a:rPr lang="zh-CN" altLang="en-US" sz="1600" dirty="0"/>
              <a:t>性能最好</a:t>
            </a:r>
            <a:r>
              <a:rPr lang="en-US" altLang="zh-CN" sz="1600" dirty="0"/>
              <a:t>,</a:t>
            </a:r>
            <a:r>
              <a:rPr lang="zh-CN" altLang="en-US" sz="1600" dirty="0"/>
              <a:t>持久化没保证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17917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思考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 </a:t>
            </a:r>
            <a:r>
              <a:rPr lang="zh-CN" altLang="en-US" dirty="0" smtClean="0"/>
              <a:t>测试如何得知是否已经存入</a:t>
            </a:r>
            <a:r>
              <a:rPr lang="en-US" altLang="zh-CN" dirty="0" err="1" smtClean="0"/>
              <a:t>redis</a:t>
            </a:r>
            <a:r>
              <a:rPr lang="zh-CN" altLang="en-US" dirty="0" smtClean="0"/>
              <a:t>缓存（增删改查）</a:t>
            </a:r>
            <a:endParaRPr lang="en-US" altLang="zh-CN" dirty="0" smtClean="0"/>
          </a:p>
          <a:p>
            <a:r>
              <a:rPr lang="en-US" altLang="zh-CN" dirty="0" smtClean="0"/>
              <a:t>2 </a:t>
            </a:r>
            <a:r>
              <a:rPr lang="zh-CN" altLang="en-US" dirty="0"/>
              <a:t>测试</a:t>
            </a:r>
            <a:r>
              <a:rPr lang="zh-CN" altLang="en-US" dirty="0" smtClean="0"/>
              <a:t>使用何种工具查看管理（可视化管理）</a:t>
            </a:r>
            <a:endParaRPr lang="en-US" altLang="zh-CN" dirty="0" smtClean="0"/>
          </a:p>
          <a:p>
            <a:r>
              <a:rPr lang="en-US" altLang="zh-CN" dirty="0" smtClean="0"/>
              <a:t>3 </a:t>
            </a:r>
            <a:r>
              <a:rPr lang="zh-CN" altLang="en-US" dirty="0" smtClean="0"/>
              <a:t>测试如何测定其性能（性能评定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4 key</a:t>
            </a:r>
            <a:r>
              <a:rPr lang="zh-CN" altLang="en-US" smtClean="0"/>
              <a:t>的管理策略（命名规范和失效策略）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3913186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通用_蓝">
  <a:themeElements>
    <a:clrScheme name="通用_蓝 13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通用_蓝">
      <a:majorFont>
        <a:latin typeface="Arial"/>
        <a:ea typeface="隶书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通用_蓝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3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通用_蓝">
  <a:themeElements>
    <a:clrScheme name="1_通用_蓝 13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通用_蓝">
      <a:majorFont>
        <a:latin typeface="Arial"/>
        <a:ea typeface="隶书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通用_蓝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3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ends">
  <a:themeElements>
    <a:clrScheme name="Office 主题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 主题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Office 主题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蓝白</Template>
  <TotalTime>1976</TotalTime>
  <Words>3774</Words>
  <Application>Microsoft Office PowerPoint</Application>
  <PresentationFormat>自定义</PresentationFormat>
  <Paragraphs>306</Paragraphs>
  <Slides>35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38" baseType="lpstr">
      <vt:lpstr>通用_蓝</vt:lpstr>
      <vt:lpstr>1_通用_蓝</vt:lpstr>
      <vt:lpstr>Blends</vt:lpstr>
      <vt:lpstr>Redis应用讲解</vt:lpstr>
      <vt:lpstr>主要内容</vt:lpstr>
      <vt:lpstr>简介</vt:lpstr>
      <vt:lpstr>应用场景</vt:lpstr>
      <vt:lpstr>配置</vt:lpstr>
      <vt:lpstr>配置</vt:lpstr>
      <vt:lpstr>数据类型</vt:lpstr>
      <vt:lpstr>数据类型</vt:lpstr>
      <vt:lpstr>String(字符串)</vt:lpstr>
      <vt:lpstr>String类型相关命令</vt:lpstr>
      <vt:lpstr>String应用场景</vt:lpstr>
      <vt:lpstr>List(链表)</vt:lpstr>
      <vt:lpstr>List类型相关命令</vt:lpstr>
      <vt:lpstr>List应用场景</vt:lpstr>
      <vt:lpstr>Hash(散列)</vt:lpstr>
      <vt:lpstr>Hash类型相关命令</vt:lpstr>
      <vt:lpstr>Hash应用场景</vt:lpstr>
      <vt:lpstr>Set(集合)</vt:lpstr>
      <vt:lpstr>Set类型相关命令</vt:lpstr>
      <vt:lpstr>Set应用场景</vt:lpstr>
      <vt:lpstr>ZSet(有序集合)</vt:lpstr>
      <vt:lpstr>ZSet类型相关命令</vt:lpstr>
      <vt:lpstr>ZSet应用场景</vt:lpstr>
      <vt:lpstr>Redis事务</vt:lpstr>
      <vt:lpstr>Redis事务</vt:lpstr>
      <vt:lpstr>特征</vt:lpstr>
      <vt:lpstr>PowerPoint 演示文稿</vt:lpstr>
      <vt:lpstr>Redis不足之处</vt:lpstr>
      <vt:lpstr>Memcached和redis区别</vt:lpstr>
      <vt:lpstr>Memcached和redis区别</vt:lpstr>
      <vt:lpstr>持久化</vt:lpstr>
      <vt:lpstr>持久化</vt:lpstr>
      <vt:lpstr>快照</vt:lpstr>
      <vt:lpstr>AOF</vt:lpstr>
      <vt:lpstr>思考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基础交流</dc:title>
  <dc:creator>Administrator</dc:creator>
  <cp:lastModifiedBy>TQ</cp:lastModifiedBy>
  <cp:revision>161</cp:revision>
  <dcterms:created xsi:type="dcterms:W3CDTF">2014-10-20T01:35:45Z</dcterms:created>
  <dcterms:modified xsi:type="dcterms:W3CDTF">2017-12-27T08:34:04Z</dcterms:modified>
</cp:coreProperties>
</file>